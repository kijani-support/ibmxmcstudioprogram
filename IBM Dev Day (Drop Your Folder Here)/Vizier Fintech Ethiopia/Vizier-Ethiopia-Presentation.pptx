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5713cd7f1214cd3" /><Relationship Type="http://schemas.openxmlformats.org/officeDocument/2006/relationships/extended-properties" Target="/docProps/app.xml" Id="R1057a09d357643fb" /><Relationship Type="http://schemas.openxmlformats.org/officeDocument/2006/relationships/officeDocument" Target="/ppt/presentation.xml" Id="R0fdfa08ad8644a4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60de64190674d8c"/>
  </p:sldMasterIdLst>
  <p:notesMasterIdLst>
    <p:notesMasterId xmlns:r="http://schemas.openxmlformats.org/officeDocument/2006/relationships" r:id="Reaf5ce5ac8004ce8"/>
  </p:notesMasterIdLst>
  <p:sldIdLst>
    <p:sldId xmlns:r="http://schemas.openxmlformats.org/officeDocument/2006/relationships" id="256" r:id="Rc91708e3ac0a4d06"/>
    <p:sldId xmlns:r="http://schemas.openxmlformats.org/officeDocument/2006/relationships" id="257" r:id="Re5c7d442481b4f2b"/>
    <p:sldId xmlns:r="http://schemas.openxmlformats.org/officeDocument/2006/relationships" id="258" r:id="R0911da3ae2dc4340"/>
    <p:sldId xmlns:r="http://schemas.openxmlformats.org/officeDocument/2006/relationships" id="259" r:id="Ra17889b14bf34071"/>
    <p:sldId xmlns:r="http://schemas.openxmlformats.org/officeDocument/2006/relationships" id="260" r:id="R44fa0edfc76b47e9"/>
    <p:sldId xmlns:r="http://schemas.openxmlformats.org/officeDocument/2006/relationships" id="261" r:id="Rab370352c01d4765"/>
    <p:sldId xmlns:r="http://schemas.openxmlformats.org/officeDocument/2006/relationships" id="262" r:id="R99431671e62849ef"/>
    <p:sldId xmlns:r="http://schemas.openxmlformats.org/officeDocument/2006/relationships" id="263" r:id="Ra1c7d38603af44c8"/>
    <p:sldId xmlns:r="http://schemas.openxmlformats.org/officeDocument/2006/relationships" id="264" r:id="R22ec247a65c142fd"/>
    <p:sldId xmlns:r="http://schemas.openxmlformats.org/officeDocument/2006/relationships" id="265" r:id="Rdf9f1ec390484745"/>
    <p:sldId xmlns:r="http://schemas.openxmlformats.org/officeDocument/2006/relationships" id="266" r:id="Rc196071294324bdb"/>
    <p:sldId xmlns:r="http://schemas.openxmlformats.org/officeDocument/2006/relationships" id="267" r:id="R0128c18f2f81490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02b739266504635" /><Relationship Type="http://schemas.openxmlformats.org/officeDocument/2006/relationships/slideMaster" Target="/ppt/slideMasters/slideMaster1.xml" Id="R860de64190674d8c" /><Relationship Type="http://schemas.openxmlformats.org/officeDocument/2006/relationships/notesMaster" Target="/ppt/notesMasters/notesMaster1.xml" Id="Reaf5ce5ac8004ce8" /><Relationship Type="http://schemas.openxmlformats.org/officeDocument/2006/relationships/presProps" Target="/ppt/presProps.xml" Id="R34a74e66f0484d77" /><Relationship Type="http://schemas.openxmlformats.org/officeDocument/2006/relationships/viewProps" Target="/ppt/viewProps.xml" Id="R5b448bb12d9f43ad" /><Relationship Type="http://schemas.openxmlformats.org/officeDocument/2006/relationships/tableStyles" Target="/ppt/tableStyles.xml" Id="Rce0d8d81b45b4d63" /><Relationship Type="http://schemas.openxmlformats.org/officeDocument/2006/relationships/slide" Target="/ppt/slides/slide1.xml" Id="Rc91708e3ac0a4d06" /><Relationship Type="http://schemas.openxmlformats.org/officeDocument/2006/relationships/slide" Target="/ppt/slides/slide2.xml" Id="Re5c7d442481b4f2b" /><Relationship Type="http://schemas.openxmlformats.org/officeDocument/2006/relationships/slide" Target="/ppt/slides/slide3.xml" Id="R0911da3ae2dc4340" /><Relationship Type="http://schemas.openxmlformats.org/officeDocument/2006/relationships/slide" Target="/ppt/slides/slide4.xml" Id="Ra17889b14bf34071" /><Relationship Type="http://schemas.openxmlformats.org/officeDocument/2006/relationships/slide" Target="/ppt/slides/slide5.xml" Id="R44fa0edfc76b47e9" /><Relationship Type="http://schemas.openxmlformats.org/officeDocument/2006/relationships/slide" Target="/ppt/slides/slide6.xml" Id="Rab370352c01d4765" /><Relationship Type="http://schemas.openxmlformats.org/officeDocument/2006/relationships/slide" Target="/ppt/slides/slide7.xml" Id="R99431671e62849ef" /><Relationship Type="http://schemas.openxmlformats.org/officeDocument/2006/relationships/slide" Target="/ppt/slides/slide8.xml" Id="Ra1c7d38603af44c8" /><Relationship Type="http://schemas.openxmlformats.org/officeDocument/2006/relationships/slide" Target="/ppt/slides/slide9.xml" Id="R22ec247a65c142fd" /><Relationship Type="http://schemas.openxmlformats.org/officeDocument/2006/relationships/slide" Target="/ppt/slides/slide10.xml" Id="Rdf9f1ec390484745" /><Relationship Type="http://schemas.openxmlformats.org/officeDocument/2006/relationships/slide" Target="/ppt/slides/slide11.xml" Id="Rc196071294324bdb" /><Relationship Type="http://schemas.openxmlformats.org/officeDocument/2006/relationships/slide" Target="/ppt/slides/slide12.xml" Id="R0128c18f2f81490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ee3e836f73e45a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75ae23ff9b942ab" /><Relationship Type="http://schemas.openxmlformats.org/officeDocument/2006/relationships/notesMaster" Target="/ppt/notesMasters/notesMaster1.xml" Id="R595d62f6eebb4be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4d547c7041f4ad8" /><Relationship Type="http://schemas.openxmlformats.org/officeDocument/2006/relationships/notesMaster" Target="/ppt/notesMasters/notesMaster1.xml" Id="R0d26c4f62f154ce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75f3a8c366244e3" /><Relationship Type="http://schemas.openxmlformats.org/officeDocument/2006/relationships/notesMaster" Target="/ppt/notesMasters/notesMaster1.xml" Id="R31aa5cf5811b4d4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97565c0697a413c" /><Relationship Type="http://schemas.openxmlformats.org/officeDocument/2006/relationships/notesMaster" Target="/ppt/notesMasters/notesMaster1.xml" Id="R94c90b07294e44d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27854fd71504407" /><Relationship Type="http://schemas.openxmlformats.org/officeDocument/2006/relationships/notesMaster" Target="/ppt/notesMasters/notesMaster1.xml" Id="R14200ea0e46b443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b4fc1a02cf94f44" /><Relationship Type="http://schemas.openxmlformats.org/officeDocument/2006/relationships/notesMaster" Target="/ppt/notesMasters/notesMaster1.xml" Id="R44bd58581936480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c966a7028334e74" /><Relationship Type="http://schemas.openxmlformats.org/officeDocument/2006/relationships/notesMaster" Target="/ppt/notesMasters/notesMaster1.xml" Id="R724b4e456efc4ac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6579279b0134aa4" /><Relationship Type="http://schemas.openxmlformats.org/officeDocument/2006/relationships/notesMaster" Target="/ppt/notesMasters/notesMaster1.xml" Id="Rb5cd4e4f22084c1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57848b0987a4665" /><Relationship Type="http://schemas.openxmlformats.org/officeDocument/2006/relationships/notesMaster" Target="/ppt/notesMasters/notesMaster1.xml" Id="Rc03d7e4527f5448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357e3b2e58d47bd" /><Relationship Type="http://schemas.openxmlformats.org/officeDocument/2006/relationships/notesMaster" Target="/ppt/notesMasters/notesMaster1.xml" Id="R8570e2b424624ea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ca86c3747874718" /><Relationship Type="http://schemas.openxmlformats.org/officeDocument/2006/relationships/notesMaster" Target="/ppt/notesMasters/notesMaster1.xml" Id="Re5674e61097b47a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b4e1b4b53bd4e7a" /><Relationship Type="http://schemas.openxmlformats.org/officeDocument/2006/relationships/notesMaster" Target="/ppt/notesMasters/notesMaster1.xml" Id="R8e2b783e790f49c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IBM watsonx.ai integration uses IBM Cloud IAM and the text generation endpoint. Source: https://cloud.ibm.com/docs/apis/watsonx-ai (accessed 5 September 2026). Financial calculations remain deterministic inside Vizier.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Prototype safeguards are implemented in application code. The listed production items remain explicit limitations, not claims of certification or regulatory approval.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02ade4ac4f48c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1366d72a474d9a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preserve="1">
  <p:cSld name="VIZIER">
    <p:bg>
      <p:bgPr>
        <a:solidFill xmlns:a="http://schemas.openxmlformats.org/drawingml/2006/main">
          <a:srgbClr val="09090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041EDE8-FEB9-4934-AB9D-40C28B643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F37"/>
          </a:solidFill>
          <a:ln xmlns:a="http://schemas.openxmlformats.org/drawingml/2006/main" w="12700">
            <a:solidFill>
              <a:srgbClr val="D4AF37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C132510-701B-439F-9ACF-7D970D79E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10528"/>
            <a:ext cx="10972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 b="1" spc="200">
                <a:solidFill>
                  <a:srgbClr val="D4AF37"/>
                </a:solidFill>
                <a:latin typeface="Aptos"/>
                <a:ea typeface="Aptos"/>
                <a:cs typeface="Aptos"/>
              </a:rPr>
              <a:t>VIZIER</a:t>
            </a:r>
            <a:endParaRPr sz="8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9967840B-B5EB-485F-B514-F42C23E52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0" y="6510528"/>
            <a:ext cx="26974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00">
                <a:solidFill>
                  <a:srgbClr val="8F8056"/>
                </a:solidFill>
                <a:latin typeface="Aptos"/>
                <a:ea typeface="Aptos"/>
                <a:cs typeface="Aptos"/>
              </a:rPr>
              <a:t>PERSONAL FINANCE · KENYA</a:t>
            </a:r>
            <a:endParaRPr sz="7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0F9A201D-E3DE-4FEC-949A-52C58646B7CE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704320" y="6510528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700">
                <a:solidFill>
                  <a:srgbClr val="8F8056"/>
                </a:solidFill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1002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57dcd68693446fd" /><Relationship Type="http://schemas.openxmlformats.org/officeDocument/2006/relationships/slideLayout" Target="/ppt/slideLayouts/slideLayout1.xml" Id="R02858492f2ee4ff0" /><Relationship Type="http://schemas.openxmlformats.org/officeDocument/2006/relationships/slideLayout" Target="/ppt/slideLayouts/slideLayout2.xml" Id="Rd8b4d1c901b9419b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E467229E-2E2D-4A82-B5A7-7A571B564805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704320" y="6510528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700">
                <a:solidFill>
                  <a:srgbClr val="8F8056"/>
                </a:solidFill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null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2858492f2ee4ff0"/>
    <p:sldLayoutId xmlns:r="http://schemas.openxmlformats.org/officeDocument/2006/relationships" id="2147483650" r:id="Rd8b4d1c901b9419b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8edc3356624c31" /><Relationship Type="http://schemas.openxmlformats.org/officeDocument/2006/relationships/image" Target="/ppt/media/image.jpeg" Id="R73fcd4eacb994b49" /><Relationship Type="http://schemas.openxmlformats.org/officeDocument/2006/relationships/notesSlide" Target="/ppt/notesSlides/notesSlide1.xml" Id="R392bd687177647b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3ac464f3d2d4701" /><Relationship Type="http://schemas.openxmlformats.org/officeDocument/2006/relationships/notesSlide" Target="/ppt/notesSlides/notesSlide2.xml" Id="R0b05373a266e41b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37c518f09234bbc" /><Relationship Type="http://schemas.openxmlformats.org/officeDocument/2006/relationships/notesSlide" Target="/ppt/notesSlides/notesSlide3.xml" Id="R0651eba7a213416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50225187a144999" /><Relationship Type="http://schemas.openxmlformats.org/officeDocument/2006/relationships/notesSlide" Target="/ppt/notesSlides/notesSlide4.xml" Id="R22bcccdbeb36419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ce09856e8b6451b" /><Relationship Type="http://schemas.openxmlformats.org/officeDocument/2006/relationships/image" Target="/ppt/media/image2.jpeg" Id="R9d3566d93f924a73" /><Relationship Type="http://schemas.openxmlformats.org/officeDocument/2006/relationships/notesSlide" Target="/ppt/notesSlides/notesSlide5.xml" Id="R6b111f361e86434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2b87b6e14864407" /><Relationship Type="http://schemas.openxmlformats.org/officeDocument/2006/relationships/notesSlide" Target="/ppt/notesSlides/notesSlide6.xml" Id="Rf2b3c47de625402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bc12129e57d4142" /><Relationship Type="http://schemas.openxmlformats.org/officeDocument/2006/relationships/notesSlide" Target="/ppt/notesSlides/notesSlide7.xml" Id="Rada872fc5b52440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2c6863b4fd14103" /><Relationship Type="http://schemas.openxmlformats.org/officeDocument/2006/relationships/notesSlide" Target="/ppt/notesSlides/notesSlide8.xml" Id="Rfdb702c5f8ff4bb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aa6c1b8ed9b4b49" /><Relationship Type="http://schemas.openxmlformats.org/officeDocument/2006/relationships/notesSlide" Target="/ppt/notesSlides/notesSlide9.xml" Id="R8f809bb4b390485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8c8db9e026f4ec7" /><Relationship Type="http://schemas.openxmlformats.org/officeDocument/2006/relationships/notesSlide" Target="/ppt/notesSlides/notesSlide10.xml" Id="R7887147b724049c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cd177638c984a5e" /><Relationship Type="http://schemas.openxmlformats.org/officeDocument/2006/relationships/notesSlide" Target="/ppt/notesSlides/notesSlide11.xml" Id="Rcb4c9cf60a56461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93333ba1d7439a" /><Relationship Type="http://schemas.openxmlformats.org/officeDocument/2006/relationships/image" Target="/ppt/media/image3.jpeg" Id="R72e5c877d3cc4e58" /><Relationship Type="http://schemas.openxmlformats.org/officeDocument/2006/relationships/notesSlide" Target="/ppt/notesSlides/notesSlide12.xml" Id="R8700e1a274c0426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9090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CFBFE26B-5969-4403-ACC4-ED6D29B47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720000">
            <a:off x="7040880" y="-1005840"/>
            <a:ext cx="6217920" cy="6217920"/>
          </a:xfrm>
          <a:prstGeom xmlns:a="http://schemas.openxmlformats.org/drawingml/2006/main" prst="arc">
            <a:avLst/>
          </a:prstGeom>
          <a:solidFill xmlns:a="http://schemas.openxmlformats.org/drawingml/2006/main">
            <a:srgbClr val="090909">
              <a:alpha val="0"/>
            </a:srgbClr>
          </a:solidFill>
          <a:ln xmlns:a="http://schemas.openxmlformats.org/drawingml/2006/main" w="15240">
            <a:solidFill>
              <a:srgbClr val="5D4714">
                <a:alpha val="8000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38219351-8EFB-490C-8480-7E1270CB6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0" y="594360"/>
            <a:ext cx="3383280" cy="33832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15240">
            <a:solidFill>
              <a:srgbClr val="D4AF37"/>
            </a:solidFill>
            <a:prstDash val="solid"/>
          </a:ln>
          <a:effectLst xmlns:a="http://schemas.openxmlformats.org/drawingml/2006/main">
            <a:outerShdw blurRad="101600" dist="50800" dir="2700000" sx="100000" sy="100000" kx="0" ky="0" algn="bl" rotWithShape="0">
              <a:srgbClr val="D4AF37">
                <a:alpha val="18000"/>
              </a:srgbClr>
            </a:outerShdw>
          </a:effectLst>
        </p:spPr>
      </p:sp>
      <p:pic>
        <p:nvPicPr>
          <p:cNvPr id="2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fcd4eacb994b4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65008" y="841248"/>
            <a:ext cx="2889504" cy="2889504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613BF199-B85C-4DD7-AA09-CFE936779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1051560"/>
            <a:ext cx="521208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200" b="1" spc="300">
                <a:solidFill>
                  <a:srgbClr val="D4AF37"/>
                </a:solidFill>
              </a:rPr>
              <a:t>VIZIER</a:t>
            </a:r>
            <a:endParaRPr sz="420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C0DD93A9-DA3E-47AC-B62E-BD8A65446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874520"/>
            <a:ext cx="53949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300" b="1">
                <a:solidFill>
                  <a:srgbClr val="F7EBC4"/>
                </a:solidFill>
              </a:rPr>
              <a:t>Your money, made clearer.</a:t>
            </a:r>
            <a:endParaRPr sz="23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A4A4C1D1-F3F3-4DAF-A582-AD920DB5D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2487168"/>
            <a:ext cx="516636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B8AA84"/>
                </a:solidFill>
              </a:rPr>
              <a:t>An AI-powered personal finance and investment intelligence platform </a:t>
            </a:r>
            <a:r>
              <a:rPr sz="1600">
                <a:solidFill>
                  <a:srgbClr val="B8AA84"/>
                </a:solidFill>
              </a:rPr>
              <a:t>built for Ethiopia</a:t>
            </a:r>
            <a:r>
              <a:rPr sz="1600">
                <a:solidFill>
                  <a:srgbClr val="B8AA84"/>
                </a:solidFill>
              </a:rPr>
              <a:t>.</a:t>
            </a:r>
            <a:endParaRPr sz="1600"/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A220B8B4-0E8B-4C16-B59E-D205A588E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" y="3703320"/>
            <a:ext cx="1325880" cy="310896"/>
          </a:xfrm>
          <a:prstGeom xmlns:a="http://schemas.openxmlformats.org/drawingml/2006/main" prst="roundRect">
            <a:avLst>
              <a:gd name="adj" fmla="val 41176"/>
            </a:avLst>
          </a:prstGeom>
          <a:solidFill xmlns:a="http://schemas.openxmlformats.org/drawingml/2006/main">
            <a:srgbClr val="2A2416"/>
          </a:solidFill>
          <a:ln xmlns:a="http://schemas.openxmlformats.org/drawingml/2006/main" w="6350">
            <a:solidFill>
              <a:srgbClr val="5E4B1C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3E84E91E-A0CF-48CA-AE09-54D1B3141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785616"/>
            <a:ext cx="1179576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00" b="1">
                <a:solidFill>
                  <a:srgbClr val="F4D675"/>
                </a:solidFill>
              </a:rPr>
              <a:t>BUDGETING</a:t>
            </a:r>
            <a:endParaRPr sz="700"/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D8B73C83-46A2-42DC-95F8-F64D506BA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1408" y="3703320"/>
            <a:ext cx="1143000" cy="310896"/>
          </a:xfrm>
          <a:prstGeom xmlns:a="http://schemas.openxmlformats.org/drawingml/2006/main" prst="roundRect">
            <a:avLst>
              <a:gd name="adj" fmla="val 41176"/>
            </a:avLst>
          </a:prstGeom>
          <a:solidFill xmlns:a="http://schemas.openxmlformats.org/drawingml/2006/main">
            <a:srgbClr val="2A2416"/>
          </a:solidFill>
          <a:ln xmlns:a="http://schemas.openxmlformats.org/drawingml/2006/main" w="6350">
            <a:solidFill>
              <a:srgbClr val="5E4B1C"/>
            </a:solidFill>
            <a:prstDash val="solid"/>
          </a:ln>
        </p:spPr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78CCCF2D-C8F7-4ACA-A30A-97716B716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4560" y="3785616"/>
            <a:ext cx="996696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00" b="1">
                <a:solidFill>
                  <a:srgbClr val="F4D675"/>
                </a:solidFill>
              </a:rPr>
              <a:t>AI COACH</a:t>
            </a:r>
            <a:endParaRPr sz="70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F4CEE403-5A53-4645-ADC4-33C030F03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3703320"/>
            <a:ext cx="1261872" cy="310896"/>
          </a:xfrm>
          <a:prstGeom xmlns:a="http://schemas.openxmlformats.org/drawingml/2006/main" prst="roundRect">
            <a:avLst>
              <a:gd name="adj" fmla="val 41176"/>
            </a:avLst>
          </a:prstGeom>
          <a:solidFill xmlns:a="http://schemas.openxmlformats.org/drawingml/2006/main">
            <a:srgbClr val="2A2416"/>
          </a:solidFill>
          <a:ln xmlns:a="http://schemas.openxmlformats.org/drawingml/2006/main" w="6350">
            <a:solidFill>
              <a:srgbClr val="5E4B1C"/>
            </a:solidFill>
            <a:prstDash val="solid"/>
          </a:ln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ED8E913D-88D4-4A1D-80C8-5139FA8AC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6432" y="3785616"/>
            <a:ext cx="1115568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00" b="1">
                <a:solidFill>
                  <a:srgbClr val="F4D675"/>
                </a:solidFill>
              </a:rPr>
              <a:t>NSE DATA</a:t>
            </a:r>
            <a:endParaRPr sz="70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D1DEF6C6-509D-448A-AA7A-A27EBF399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4024" y="3703320"/>
            <a:ext cx="1325880" cy="310896"/>
          </a:xfrm>
          <a:prstGeom xmlns:a="http://schemas.openxmlformats.org/drawingml/2006/main" prst="roundRect">
            <a:avLst>
              <a:gd name="adj" fmla="val 41176"/>
            </a:avLst>
          </a:prstGeom>
          <a:solidFill xmlns:a="http://schemas.openxmlformats.org/drawingml/2006/main">
            <a:srgbClr val="2A2416"/>
          </a:solidFill>
          <a:ln xmlns:a="http://schemas.openxmlformats.org/drawingml/2006/main" w="6350">
            <a:solidFill>
              <a:srgbClr val="5E4B1C"/>
            </a:solidFill>
            <a:prstDash val="solid"/>
          </a:ln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7B513836-D6C0-4D96-8411-15672C18C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3785616"/>
            <a:ext cx="1179576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00" b="1">
                <a:solidFill>
                  <a:srgbClr val="F4D675"/>
                </a:solidFill>
              </a:rPr>
              <a:t>PORTFOLIO</a:t>
            </a:r>
            <a:endParaRPr sz="700"/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51F9D9D3-B1B5-4AC7-9212-FC1229931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" y="4617720"/>
            <a:ext cx="53492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4AF37"/>
            </a:solidFill>
            <a:prstDash val="solid"/>
          </a:ln>
        </p:spPr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232B9D06-6AFA-430E-BA3D-A20CFAAA2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" y="4800600"/>
            <a:ext cx="32004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 spc="150">
                <a:solidFill>
                  <a:srgbClr val="D4AF37"/>
                </a:solidFill>
              </a:rPr>
              <a:t>PRODUCT PRESENTATION · 2026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365369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7E7A83F-2EEE-4C0B-87CC-7D9A77222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048"/>
            <a:ext cx="310896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 spc="200">
                <a:solidFill>
                  <a:srgbClr val="D4AF37"/>
                </a:solidFill>
              </a:rPr>
              <a:t>THE PROBLEM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9B960B5-EE28-41DE-B454-852CB648B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13232"/>
            <a:ext cx="1097280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700" b="1">
                <a:solidFill>
                  <a:srgbClr val="F7EBC4"/>
                </a:solidFill>
              </a:rPr>
              <a:t>Financial data is everywhere. Clarity is not.</a:t>
            </a:r>
            <a:endParaRPr sz="27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86ED4443-F4C0-47B7-9A0D-5456DED7E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298448"/>
            <a:ext cx="10515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B8AA84"/>
                </a:solidFill>
              </a:rPr>
              <a:t>Most people manage money across disconnected messages, statements, apps, and market sources.</a:t>
            </a:r>
            <a:endParaRPr sz="12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D1B28F34-B925-4008-9F01-18710674E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874520"/>
            <a:ext cx="5257800" cy="1417320"/>
          </a:xfrm>
          <a:prstGeom xmlns:a="http://schemas.openxmlformats.org/drawingml/2006/main" prst="roundRect">
            <a:avLst>
              <a:gd name="adj" fmla="val 7742"/>
            </a:avLst>
          </a:prstGeom>
          <a:solidFill xmlns:a="http://schemas.openxmlformats.org/drawingml/2006/main">
            <a:srgbClr val="141311"/>
          </a:solidFill>
          <a:ln xmlns:a="http://schemas.openxmlformats.org/drawingml/2006/main" w="10160">
            <a:solidFill>
              <a:srgbClr val="352E1B"/>
            </a:solidFill>
            <a:prstDash val="solid"/>
          </a:ln>
          <a:effectLst xmlns:a="http://schemas.openxmlformats.org/drawingml/2006/main">
            <a:outerShdw blurRad="25400" dist="50800" dir="2700000" sx="100000" sy="100000" kx="0" ky="0" algn="bl" rotWithShape="0">
              <a:srgbClr val="000000">
                <a:alpha val="22000"/>
              </a:srgbClr>
            </a:outerShdw>
          </a:effectLst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A40FCE98-7F91-48BD-A70F-12CB994A5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057400"/>
            <a:ext cx="54864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D4AF37"/>
                </a:solidFill>
              </a:rPr>
              <a:t>01</a:t>
            </a:r>
            <a:endParaRPr sz="18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57C99D5-9760-4C22-B841-D767D22DD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2057400"/>
            <a:ext cx="40690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7EBC4"/>
                </a:solidFill>
              </a:rPr>
              <a:t>Fragmented records</a:t>
            </a:r>
            <a:endParaRPr sz="13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C3A52FB7-1813-46BB-A235-474B4918B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2404872"/>
            <a:ext cx="406908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B8AA84"/>
                </a:solidFill>
              </a:rPr>
              <a:t>Income, expenses, </a:t>
            </a:r>
            <a:r>
              <a:rPr sz="1050">
                <a:solidFill>
                  <a:srgbClr val="B8AA84"/>
                </a:solidFill>
              </a:rPr>
              <a:t>telebirr, bank accounts</a:t>
            </a:r>
            <a:r>
              <a:rPr sz="1050">
                <a:solidFill>
                  <a:srgbClr val="B8AA84"/>
                </a:solidFill>
              </a:rPr>
              <a:t>, goals and investments live in separate places.</a:t>
            </a:r>
            <a:endParaRPr sz="105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F6559343-EE75-4FA2-86D4-090A0049D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874520"/>
            <a:ext cx="5257800" cy="1417320"/>
          </a:xfrm>
          <a:prstGeom xmlns:a="http://schemas.openxmlformats.org/drawingml/2006/main" prst="roundRect">
            <a:avLst>
              <a:gd name="adj" fmla="val 7742"/>
            </a:avLst>
          </a:prstGeom>
          <a:solidFill xmlns:a="http://schemas.openxmlformats.org/drawingml/2006/main">
            <a:srgbClr val="141311"/>
          </a:solidFill>
          <a:ln xmlns:a="http://schemas.openxmlformats.org/drawingml/2006/main" w="10160">
            <a:solidFill>
              <a:srgbClr val="352E1B"/>
            </a:solidFill>
            <a:prstDash val="solid"/>
          </a:ln>
          <a:effectLst xmlns:a="http://schemas.openxmlformats.org/drawingml/2006/main">
            <a:outerShdw blurRad="25400" dist="50800" dir="2700000" sx="100000" sy="100000" kx="0" ky="0" algn="bl" rotWithShape="0">
              <a:srgbClr val="000000">
                <a:alpha val="22000"/>
              </a:srgbClr>
            </a:outerShdw>
          </a:effectLst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562DF3F9-374C-439B-A102-706AC347C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57400"/>
            <a:ext cx="54864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D4AF37"/>
                </a:solidFill>
              </a:rPr>
              <a:t>02</a:t>
            </a:r>
            <a:endParaRPr sz="18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E1CB1318-EEC8-46DB-AD9C-50DBB8F9F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0" y="2057400"/>
            <a:ext cx="40690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7EBC4"/>
                </a:solidFill>
              </a:rPr>
              <a:t>Low financial visibility</a:t>
            </a:r>
            <a:endParaRPr sz="13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C69A7AA7-637A-44BB-8E61-E2C2461CA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0" y="2404872"/>
            <a:ext cx="406908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B8AA84"/>
                </a:solidFill>
              </a:rPr>
              <a:t>Users struggle to understand cash flow, category pressure, savings progress and debt burden.</a:t>
            </a:r>
            <a:endParaRPr sz="105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EE8A1E53-8A19-4B6B-B9C2-D529BB9F6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703320"/>
            <a:ext cx="5257800" cy="1417320"/>
          </a:xfrm>
          <a:prstGeom xmlns:a="http://schemas.openxmlformats.org/drawingml/2006/main" prst="roundRect">
            <a:avLst>
              <a:gd name="adj" fmla="val 7742"/>
            </a:avLst>
          </a:prstGeom>
          <a:solidFill xmlns:a="http://schemas.openxmlformats.org/drawingml/2006/main">
            <a:srgbClr val="141311"/>
          </a:solidFill>
          <a:ln xmlns:a="http://schemas.openxmlformats.org/drawingml/2006/main" w="10160">
            <a:solidFill>
              <a:srgbClr val="352E1B"/>
            </a:solidFill>
            <a:prstDash val="solid"/>
          </a:ln>
          <a:effectLst xmlns:a="http://schemas.openxmlformats.org/drawingml/2006/main">
            <a:outerShdw blurRad="25400" dist="50800" dir="2700000" sx="100000" sy="100000" kx="0" ky="0" algn="bl" rotWithShape="0">
              <a:srgbClr val="000000">
                <a:alpha val="22000"/>
              </a:srgbClr>
            </a:outerShdw>
          </a:effectLst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F3BBE32E-192E-41C6-98D3-51EFB6830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886200"/>
            <a:ext cx="54864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D4AF37"/>
                </a:solidFill>
              </a:rPr>
              <a:t>03</a:t>
            </a:r>
            <a:endParaRPr sz="18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093F009F-9B97-4903-8D85-E1272C877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3886200"/>
            <a:ext cx="40690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7EBC4"/>
                </a:solidFill>
              </a:rPr>
              <a:t>Generic guidance</a:t>
            </a:r>
            <a:endParaRPr sz="13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30BFB129-D6AF-45BF-897D-292F12888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4233672"/>
            <a:ext cx="406908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B8AA84"/>
                </a:solidFill>
              </a:rPr>
              <a:t>Advice is often disconnected from the user’s actual numbers—or generated without deterministic calculations.</a:t>
            </a:r>
            <a:endParaRPr sz="105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555BF35D-2930-4005-AD70-365C2BCAD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3703320"/>
            <a:ext cx="5257800" cy="1417320"/>
          </a:xfrm>
          <a:prstGeom xmlns:a="http://schemas.openxmlformats.org/drawingml/2006/main" prst="roundRect">
            <a:avLst>
              <a:gd name="adj" fmla="val 7742"/>
            </a:avLst>
          </a:prstGeom>
          <a:solidFill xmlns:a="http://schemas.openxmlformats.org/drawingml/2006/main">
            <a:srgbClr val="141311"/>
          </a:solidFill>
          <a:ln xmlns:a="http://schemas.openxmlformats.org/drawingml/2006/main" w="10160">
            <a:solidFill>
              <a:srgbClr val="352E1B"/>
            </a:solidFill>
            <a:prstDash val="solid"/>
          </a:ln>
          <a:effectLst xmlns:a="http://schemas.openxmlformats.org/drawingml/2006/main">
            <a:outerShdw blurRad="25400" dist="50800" dir="2700000" sx="100000" sy="100000" kx="0" ky="0" algn="bl" rotWithShape="0">
              <a:srgbClr val="000000">
                <a:alpha val="22000"/>
              </a:srgbClr>
            </a:outerShdw>
          </a:effectLst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C80C2EC3-29C7-4F73-B71B-F838DE11D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86200"/>
            <a:ext cx="54864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D4AF37"/>
                </a:solidFill>
              </a:rPr>
              <a:t>04</a:t>
            </a:r>
            <a:endParaRPr sz="18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BAB5404F-3AE7-4A93-9771-4D9517F45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0" y="3886200"/>
            <a:ext cx="40690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7EBC4"/>
                </a:solidFill>
              </a:rPr>
              <a:t>Investment opacity</a:t>
            </a:r>
            <a:endParaRPr sz="13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A2A27A32-94EC-44A1-83F9-2041D79A6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0" y="4233672"/>
            <a:ext cx="406908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B8AA84"/>
                </a:solidFill>
              </a:rPr>
              <a:t>Retail investors need a simple view of holdings, allocation, returns and </a:t>
            </a:r>
            <a:r>
              <a:rPr sz="1050">
                <a:solidFill>
                  <a:srgbClr val="B8AA84"/>
                </a:solidFill>
              </a:rPr>
              <a:t>clearly labelled asset values</a:t>
            </a:r>
            <a:r>
              <a:rPr sz="1050">
                <a:solidFill>
                  <a:srgbClr val="B8AA84"/>
                </a:solidFill>
              </a:rPr>
              <a:t>.</a:t>
            </a:r>
            <a:endParaRPr sz="105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AF914E89-CD08-4C75-B496-ED651832C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742432"/>
            <a:ext cx="94183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F4D675"/>
                </a:solidFill>
              </a:rPr>
              <a:t>The opportunity: turn raw financial activity into one explainable, actionable view.</a:t>
            </a:r>
            <a:endParaRPr sz="18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983FFC9D-4C55-4951-9F99-D7D7503166B5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704320" y="6510528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700">
                <a:solidFill>
                  <a:srgbClr val="8F8056"/>
                </a:solidFill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5012626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44BCB259-2539-4C48-BD3B-C43942FFA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048"/>
            <a:ext cx="310896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 spc="200">
                <a:solidFill>
                  <a:srgbClr val="D4AF37"/>
                </a:solidFill>
              </a:rPr>
              <a:t>THE SOLUTION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28ED4D0-4609-43D5-B978-206F7D4EF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13232"/>
            <a:ext cx="1097280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700" b="1">
                <a:solidFill>
                  <a:srgbClr val="F7EBC4"/>
                </a:solidFill>
              </a:rPr>
              <a:t>One financial command center</a:t>
            </a:r>
            <a:endParaRPr sz="27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A165D967-8292-4B61-9F9D-0BCEEC73F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298448"/>
            <a:ext cx="10515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B8AA84"/>
                </a:solidFill>
              </a:rPr>
              <a:t>Vizier combines deterministic finance engines, persistent personal data and an optional AI explanation layer.</a:t>
            </a:r>
            <a:endParaRPr sz="12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A4CA1F16-FDE8-4F56-9B1B-8A3ABCE8C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901952"/>
            <a:ext cx="2487168" cy="3337560"/>
          </a:xfrm>
          <a:prstGeom xmlns:a="http://schemas.openxmlformats.org/drawingml/2006/main" prst="roundRect">
            <a:avLst>
              <a:gd name="adj" fmla="val 4412"/>
            </a:avLst>
          </a:prstGeom>
          <a:solidFill xmlns:a="http://schemas.openxmlformats.org/drawingml/2006/main">
            <a:srgbClr val="141311"/>
          </a:solidFill>
          <a:ln xmlns:a="http://schemas.openxmlformats.org/drawingml/2006/main" w="10160">
            <a:solidFill>
              <a:srgbClr val="352E1B"/>
            </a:solidFill>
            <a:prstDash val="solid"/>
          </a:ln>
          <a:effectLst xmlns:a="http://schemas.openxmlformats.org/drawingml/2006/main">
            <a:outerShdw blurRad="25400" dist="50800" dir="2700000" sx="100000" sy="100000" kx="0" ky="0" algn="bl" rotWithShape="0">
              <a:srgbClr val="000000">
                <a:alpha val="22000"/>
              </a:srgbClr>
            </a:outerShdw>
          </a:effectLst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BAAD9CE0-3A68-4F06-8319-807F5ADD5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4752" y="219456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1C0A"/>
          </a:solidFill>
          <a:ln xmlns:a="http://schemas.openxmlformats.org/drawingml/2006/main" w="15240">
            <a:solidFill>
              <a:srgbClr val="D4AF37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6B5337B4-FC9E-41BD-8BC8-C844A0FE6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8488" y="2487168"/>
            <a:ext cx="56692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D4AF37"/>
                </a:solidFill>
              </a:rPr>
              <a:t>01</a:t>
            </a:r>
            <a:endParaRPr sz="14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6F57E016-3E39-4129-95D2-ED57EEB86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" y="3401568"/>
            <a:ext cx="202996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 spc="100">
                <a:solidFill>
                  <a:srgbClr val="F4D675"/>
                </a:solidFill>
              </a:rPr>
              <a:t>PLAN</a:t>
            </a:r>
            <a:endParaRPr sz="14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40FF9BD6-8619-49E1-AE29-7DB5BEB7B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6" y="3886200"/>
            <a:ext cx="1901952" cy="7589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B8AA84"/>
                </a:solidFill>
              </a:rPr>
              <a:t>Income, expenses, category limits, savings goals and debt tracking</a:t>
            </a:r>
            <a:endParaRPr sz="100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E2FC6D87-B35C-4EC3-A107-5E05C5311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3008" y="1901952"/>
            <a:ext cx="2487168" cy="3337560"/>
          </a:xfrm>
          <a:prstGeom xmlns:a="http://schemas.openxmlformats.org/drawingml/2006/main" prst="roundRect">
            <a:avLst>
              <a:gd name="adj" fmla="val 4412"/>
            </a:avLst>
          </a:prstGeom>
          <a:solidFill xmlns:a="http://schemas.openxmlformats.org/drawingml/2006/main">
            <a:srgbClr val="1C1912"/>
          </a:solidFill>
          <a:ln xmlns:a="http://schemas.openxmlformats.org/drawingml/2006/main" w="10160">
            <a:solidFill>
              <a:srgbClr val="352E1B"/>
            </a:solidFill>
            <a:prstDash val="solid"/>
          </a:ln>
          <a:effectLst xmlns:a="http://schemas.openxmlformats.org/drawingml/2006/main">
            <a:outerShdw blurRad="25400" dist="50800" dir="2700000" sx="100000" sy="100000" kx="0" ky="0" algn="bl" rotWithShape="0">
              <a:srgbClr val="000000">
                <a:alpha val="22000"/>
              </a:srgbClr>
            </a:outerShdw>
          </a:effectLst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30DFA956-FBF3-40EA-8D85-167D46855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392" y="219456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1C0A"/>
          </a:solidFill>
          <a:ln xmlns:a="http://schemas.openxmlformats.org/drawingml/2006/main" w="15240">
            <a:solidFill>
              <a:srgbClr val="D4AF37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43B5B405-B23A-4243-8641-66E96343C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3128" y="2487168"/>
            <a:ext cx="56692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D4AF37"/>
                </a:solidFill>
              </a:rPr>
              <a:t>02</a:t>
            </a:r>
            <a:endParaRPr sz="14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4ACB0C0B-7210-48E7-A000-45FD2F0A3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1608" y="3401568"/>
            <a:ext cx="202996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 spc="100">
                <a:solidFill>
                  <a:srgbClr val="F4D675"/>
                </a:solidFill>
              </a:rPr>
              <a:t>UNDERSTAND</a:t>
            </a:r>
            <a:endParaRPr sz="14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2A6BB346-F37D-4C60-A494-83148E4E1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5616" y="3886200"/>
            <a:ext cx="1901952" cy="7589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B8AA84"/>
                </a:solidFill>
              </a:rPr>
              <a:t>Cash-flow metrics, health scoring, trends, alerts and monthly comparisons</a:t>
            </a:r>
            <a:endParaRPr sz="100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F36E7556-D2BA-4CA8-807E-255E51AD2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648" y="1901952"/>
            <a:ext cx="2487168" cy="3337560"/>
          </a:xfrm>
          <a:prstGeom xmlns:a="http://schemas.openxmlformats.org/drawingml/2006/main" prst="roundRect">
            <a:avLst>
              <a:gd name="adj" fmla="val 4412"/>
            </a:avLst>
          </a:prstGeom>
          <a:solidFill xmlns:a="http://schemas.openxmlformats.org/drawingml/2006/main">
            <a:srgbClr val="141311"/>
          </a:solidFill>
          <a:ln xmlns:a="http://schemas.openxmlformats.org/drawingml/2006/main" w="10160">
            <a:solidFill>
              <a:srgbClr val="352E1B"/>
            </a:solidFill>
            <a:prstDash val="solid"/>
          </a:ln>
          <a:effectLst xmlns:a="http://schemas.openxmlformats.org/drawingml/2006/main">
            <a:outerShdw blurRad="25400" dist="50800" dir="2700000" sx="100000" sy="100000" kx="0" ky="0" algn="bl" rotWithShape="0">
              <a:srgbClr val="000000">
                <a:alpha val="22000"/>
              </a:srgbClr>
            </a:outerShdw>
          </a:effectLst>
        </p:spPr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8B7E6D9A-FC4A-44DA-80DA-5DAAA35F5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4032" y="219456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1C0A"/>
          </a:solidFill>
          <a:ln xmlns:a="http://schemas.openxmlformats.org/drawingml/2006/main" w="15240">
            <a:solidFill>
              <a:srgbClr val="D4AF37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C717DE7F-BA15-4083-BC77-D4CB0DB9B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7768" y="2487168"/>
            <a:ext cx="56692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D4AF37"/>
                </a:solidFill>
              </a:rPr>
              <a:t>03</a:t>
            </a:r>
            <a:endParaRPr sz="14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80730276-862A-42F4-B2C1-0E5149A26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48" y="3401568"/>
            <a:ext cx="202996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 spc="100">
                <a:solidFill>
                  <a:srgbClr val="F4D675"/>
                </a:solidFill>
              </a:rPr>
              <a:t>INVEST</a:t>
            </a:r>
            <a:endParaRPr sz="14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B0E36667-FC86-4C6E-AD23-4DBFF9BF3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0256" y="3886200"/>
            <a:ext cx="1901952" cy="7589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B8AA84"/>
                </a:solidFill>
              </a:rPr>
              <a:t>Persistent holdings, returns, dividends, allocation and concentration</a:t>
            </a:r>
            <a:endParaRPr sz="100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EDBAF4CE-DF69-426A-A598-FAFFC741B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2288" y="1901952"/>
            <a:ext cx="2487168" cy="3337560"/>
          </a:xfrm>
          <a:prstGeom xmlns:a="http://schemas.openxmlformats.org/drawingml/2006/main" prst="roundRect">
            <a:avLst>
              <a:gd name="adj" fmla="val 4412"/>
            </a:avLst>
          </a:prstGeom>
          <a:solidFill xmlns:a="http://schemas.openxmlformats.org/drawingml/2006/main">
            <a:srgbClr val="1C1912"/>
          </a:solidFill>
          <a:ln xmlns:a="http://schemas.openxmlformats.org/drawingml/2006/main" w="10160">
            <a:solidFill>
              <a:srgbClr val="352E1B"/>
            </a:solidFill>
            <a:prstDash val="solid"/>
          </a:ln>
          <a:effectLst xmlns:a="http://schemas.openxmlformats.org/drawingml/2006/main">
            <a:outerShdw blurRad="25400" dist="50800" dir="2700000" sx="100000" sy="100000" kx="0" ky="0" algn="bl" rotWithShape="0">
              <a:srgbClr val="000000">
                <a:alpha val="22000"/>
              </a:srgbClr>
            </a:outerShdw>
          </a:effectLst>
        </p:spPr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6A97CAA0-BE0C-409D-BBFF-FC3164989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8672" y="219456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1C0A"/>
          </a:solidFill>
          <a:ln xmlns:a="http://schemas.openxmlformats.org/drawingml/2006/main" w="15240">
            <a:solidFill>
              <a:srgbClr val="D4AF37"/>
            </a:solidFill>
            <a:prstDash val="solid"/>
          </a:ln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B4DFA166-A92B-4FAF-B8C0-47343F141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2408" y="2487168"/>
            <a:ext cx="56692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D4AF37"/>
                </a:solidFill>
              </a:rPr>
              <a:t>04</a:t>
            </a:r>
            <a:endParaRPr sz="14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135AFB78-68E8-4EF2-AFB6-CF853E8B5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0888" y="3401568"/>
            <a:ext cx="202996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 spc="100">
                <a:solidFill>
                  <a:srgbClr val="F4D675"/>
                </a:solidFill>
              </a:rPr>
              <a:t>ASK</a:t>
            </a:r>
            <a:endParaRPr sz="14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BC33706D-A6A1-4C5D-B509-623FD2DBF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4896" y="3886200"/>
            <a:ext cx="1901952" cy="7589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B8AA84"/>
                </a:solidFill>
              </a:rPr>
              <a:t>Context-aware AI coaching with an offline rules-based fallback</a:t>
            </a:r>
            <a:endParaRPr sz="1000"/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BA946530-17E3-4F53-8D98-3C08BD22F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1024" y="5650992"/>
            <a:ext cx="4956048" cy="310896"/>
          </a:xfrm>
          <a:prstGeom xmlns:a="http://schemas.openxmlformats.org/drawingml/2006/main" prst="roundRect">
            <a:avLst>
              <a:gd name="adj" fmla="val 41176"/>
            </a:avLst>
          </a:prstGeom>
          <a:solidFill xmlns:a="http://schemas.openxmlformats.org/drawingml/2006/main">
            <a:srgbClr val="2A2416"/>
          </a:solidFill>
          <a:ln xmlns:a="http://schemas.openxmlformats.org/drawingml/2006/main" w="6350">
            <a:solidFill>
              <a:srgbClr val="5E4B1C"/>
            </a:solidFill>
            <a:prstDash val="solid"/>
          </a:ln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190A5372-462F-4B64-975B-B9294EA5D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4176" y="5733288"/>
            <a:ext cx="4809744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00" b="1">
                <a:solidFill>
                  <a:srgbClr val="F4D675"/>
                </a:solidFill>
              </a:rPr>
              <a:t>DETERMINISTIC MATH · AI EXPLANATION · USER ACTION</a:t>
            </a:r>
            <a:endParaRPr sz="700"/>
          </a:p>
        </p:txBody>
      </p:sp>
      <p:sp>
        <p:nvSpPr>
          <p:cNvPr id="27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3DF19859-FA1A-4D4A-AF66-FF732B185AF6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704320" y="6510528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700">
                <a:solidFill>
                  <a:srgbClr val="8F8056"/>
                </a:solidFill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0817799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938F5A28-C1B7-4E2E-8C9F-06D2729F0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048"/>
            <a:ext cx="310896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 spc="200">
                <a:solidFill>
                  <a:srgbClr val="D4AF37"/>
                </a:solidFill>
              </a:rPr>
              <a:t>PRODUCT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6751CC3-5DCE-422B-98B7-166C1A1A0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13232"/>
            <a:ext cx="1097280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700" b="1">
                <a:solidFill>
                  <a:srgbClr val="F7EBC4"/>
                </a:solidFill>
              </a:rPr>
              <a:t>A complete personal-finance workflow</a:t>
            </a:r>
            <a:endParaRPr sz="27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D51C4862-825A-4FF5-85E9-8F8DD2E82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664208"/>
            <a:ext cx="3429000" cy="1691640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141311"/>
          </a:solidFill>
          <a:ln xmlns:a="http://schemas.openxmlformats.org/drawingml/2006/main" w="10160">
            <a:solidFill>
              <a:srgbClr val="352E1B"/>
            </a:solidFill>
            <a:prstDash val="solid"/>
          </a:ln>
          <a:effectLst xmlns:a="http://schemas.openxmlformats.org/drawingml/2006/main">
            <a:outerShdw blurRad="25400" dist="50800" dir="2700000" sx="100000" sy="100000" kx="0" ky="0" algn="bl" rotWithShape="0">
              <a:srgbClr val="000000">
                <a:alpha val="22000"/>
              </a:srgbClr>
            </a:outerShdw>
          </a:effectLst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D78C2A69-5460-44CF-9DEE-7FA2AC1C9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1828800"/>
            <a:ext cx="29260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70">
                <a:solidFill>
                  <a:srgbClr val="D4AF37"/>
                </a:solidFill>
              </a:rPr>
              <a:t>ACCOUNTS &amp; DATA</a:t>
            </a:r>
            <a:endParaRPr sz="10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DF30BD7F-7A33-48B5-B0BF-9AFB35327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219456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F37"/>
          </a:solidFill>
          <a:ln xmlns:a="http://schemas.openxmlformats.org/drawingml/2006/main" w="12700">
            <a:solidFill>
              <a:srgbClr val="D4AF37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BA4FC741-5095-42A6-8610-30549923B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2148840"/>
            <a:ext cx="28346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70">
                <a:solidFill>
                  <a:srgbClr val="F7EBC4"/>
                </a:solidFill>
              </a:rPr>
              <a:t>Registration + sign-in</a:t>
            </a:r>
            <a:endParaRPr sz="87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51B70EAF-B3D2-4B00-A173-8D78E9EE7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2441448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F37"/>
          </a:solidFill>
          <a:ln xmlns:a="http://schemas.openxmlformats.org/drawingml/2006/main" w="12700">
            <a:solidFill>
              <a:srgbClr val="D4AF37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207BB942-557E-4287-B010-7D974C736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2395728"/>
            <a:ext cx="28346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70">
                <a:solidFill>
                  <a:srgbClr val="F7EBC4"/>
                </a:solidFill>
              </a:rPr>
              <a:t>SQLite persistence</a:t>
            </a:r>
            <a:endParaRPr sz="87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17A13DE6-F8C8-46E2-B512-8CB9998BD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2688336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F37"/>
          </a:solidFill>
          <a:ln xmlns:a="http://schemas.openxmlformats.org/drawingml/2006/main" w="12700">
            <a:solidFill>
              <a:srgbClr val="D4AF37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F44F3051-9571-4041-A97C-1887283AA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2642616"/>
            <a:ext cx="28346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70">
                <a:solidFill>
                  <a:srgbClr val="F7EBC4"/>
                </a:solidFill>
              </a:rPr>
              <a:t>Multiple accounts</a:t>
            </a:r>
            <a:endParaRPr sz="87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12943589-0D2D-4FB0-AEA1-A25B83E01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2935224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F37"/>
          </a:solidFill>
          <a:ln xmlns:a="http://schemas.openxmlformats.org/drawingml/2006/main" w="12700">
            <a:solidFill>
              <a:srgbClr val="D4AF37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7556CF58-16F1-4BE4-B188-D64A8E6DF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2889504"/>
            <a:ext cx="28346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70">
                <a:solidFill>
                  <a:srgbClr val="F7EBC4"/>
                </a:solidFill>
              </a:rPr>
              <a:t>CSV export + deletion</a:t>
            </a:r>
            <a:endParaRPr sz="87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D2FAE23F-B222-4CF0-A506-05C657E6F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8264" y="1664208"/>
            <a:ext cx="3429000" cy="1691640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141311"/>
          </a:solidFill>
          <a:ln xmlns:a="http://schemas.openxmlformats.org/drawingml/2006/main" w="10160">
            <a:solidFill>
              <a:srgbClr val="352E1B"/>
            </a:solidFill>
            <a:prstDash val="solid"/>
          </a:ln>
          <a:effectLst xmlns:a="http://schemas.openxmlformats.org/drawingml/2006/main">
            <a:outerShdw blurRad="25400" dist="50800" dir="2700000" sx="100000" sy="100000" kx="0" ky="0" algn="bl" rotWithShape="0">
              <a:srgbClr val="000000">
                <a:alpha val="22000"/>
              </a:srgbClr>
            </a:outerShdw>
          </a:effectLst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3E06F325-8D55-49EE-9BF3-068A6A3F5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856" y="1828800"/>
            <a:ext cx="29260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70">
                <a:solidFill>
                  <a:srgbClr val="D4AF37"/>
                </a:solidFill>
              </a:rPr>
              <a:t>BUDGETING</a:t>
            </a:r>
            <a:endParaRPr sz="100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7F8D1EB5-C1D9-4DF4-9F51-2E7188028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144" y="219456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F37"/>
          </a:solidFill>
          <a:ln xmlns:a="http://schemas.openxmlformats.org/drawingml/2006/main" w="12700">
            <a:solidFill>
              <a:srgbClr val="D4AF37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205285DD-17FE-492A-98FB-8FC6E7EDD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7448" y="2148840"/>
            <a:ext cx="28346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70">
                <a:solidFill>
                  <a:srgbClr val="F7EBC4"/>
                </a:solidFill>
              </a:rPr>
              <a:t>Custom categories</a:t>
            </a:r>
            <a:endParaRPr sz="87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040C1324-13C0-49BA-B940-04D574BF6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144" y="2441448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F37"/>
          </a:solidFill>
          <a:ln xmlns:a="http://schemas.openxmlformats.org/drawingml/2006/main" w="12700">
            <a:solidFill>
              <a:srgbClr val="D4AF37"/>
            </a:solidFill>
            <a:prstDash val="solid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A47FD909-9AAE-4CF9-A97C-A23D82FDA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7448" y="2395728"/>
            <a:ext cx="28346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70">
                <a:solidFill>
                  <a:srgbClr val="F7EBC4"/>
                </a:solidFill>
              </a:rPr>
              <a:t>Budget alerts</a:t>
            </a:r>
            <a:endParaRPr sz="87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2741B037-8C46-4885-B6D4-5C6FBEF22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144" y="2688336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F37"/>
          </a:solidFill>
          <a:ln xmlns:a="http://schemas.openxmlformats.org/drawingml/2006/main" w="12700">
            <a:solidFill>
              <a:srgbClr val="D4AF37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4FBF4A8D-E992-4F8A-A7E5-BACE8D6D5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7448" y="2642616"/>
            <a:ext cx="28346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70">
                <a:solidFill>
                  <a:srgbClr val="F7EBC4"/>
                </a:solidFill>
              </a:rPr>
              <a:t>Savings goals</a:t>
            </a:r>
            <a:endParaRPr sz="870"/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5195F8C5-D78F-40B0-8493-B61E2FC1A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144" y="2935224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F37"/>
          </a:solidFill>
          <a:ln xmlns:a="http://schemas.openxmlformats.org/drawingml/2006/main" w="12700">
            <a:solidFill>
              <a:srgbClr val="D4AF37"/>
            </a:solidFill>
            <a:prstDash val="solid"/>
          </a:ln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E1582D9E-5296-4B11-830B-D2E9F03EC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7448" y="2889504"/>
            <a:ext cx="28346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70">
                <a:solidFill>
                  <a:srgbClr val="F7EBC4"/>
                </a:solidFill>
              </a:rPr>
              <a:t>Debt + emergency fund</a:t>
            </a:r>
            <a:endParaRPr sz="87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1EC534C5-857D-45CD-A02D-F440A1277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3024" y="1664208"/>
            <a:ext cx="3429000" cy="1691640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141311"/>
          </a:solidFill>
          <a:ln xmlns:a="http://schemas.openxmlformats.org/drawingml/2006/main" w="10160">
            <a:solidFill>
              <a:srgbClr val="352E1B"/>
            </a:solidFill>
            <a:prstDash val="solid"/>
          </a:ln>
          <a:effectLst xmlns:a="http://schemas.openxmlformats.org/drawingml/2006/main">
            <a:outerShdw blurRad="25400" dist="50800" dir="2700000" sx="100000" sy="100000" kx="0" ky="0" algn="bl" rotWithShape="0">
              <a:srgbClr val="000000">
                <a:alpha val="22000"/>
              </a:srgbClr>
            </a:outerShdw>
          </a:effectLst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6118BD89-7FD7-4799-AE5D-768913952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7616" y="1828800"/>
            <a:ext cx="29260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70">
                <a:solidFill>
                  <a:srgbClr val="D4AF37"/>
                </a:solidFill>
              </a:rPr>
              <a:t>INTELLIGENCE</a:t>
            </a:r>
            <a:endParaRPr sz="1000"/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FCCA7292-20F1-4C5C-AAAD-7A99C1518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904" y="219456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F37"/>
          </a:solidFill>
          <a:ln xmlns:a="http://schemas.openxmlformats.org/drawingml/2006/main" w="12700">
            <a:solidFill>
              <a:srgbClr val="D4AF37"/>
            </a:solidFill>
            <a:prstDash val="solid"/>
          </a:ln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BA924F20-38A6-4953-AD23-C79574BBC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2208" y="2148840"/>
            <a:ext cx="28346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70">
                <a:solidFill>
                  <a:srgbClr val="F7EBC4"/>
                </a:solidFill>
              </a:rPr>
              <a:t>Health score</a:t>
            </a:r>
            <a:endParaRPr sz="870"/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4B06C90E-58D6-40B4-8144-A8B53691A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904" y="2441448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F37"/>
          </a:solidFill>
          <a:ln xmlns:a="http://schemas.openxmlformats.org/drawingml/2006/main" w="12700">
            <a:solidFill>
              <a:srgbClr val="D4AF37"/>
            </a:solidFill>
            <a:prstDash val="solid"/>
          </a:ln>
        </p:spPr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2E08741E-968C-4D6E-81B2-5325E227C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2208" y="2395728"/>
            <a:ext cx="28346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70">
                <a:solidFill>
                  <a:srgbClr val="F7EBC4"/>
                </a:solidFill>
              </a:rPr>
              <a:t>Monthly trends</a:t>
            </a:r>
            <a:endParaRPr sz="870"/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772C2A05-18EE-4D23-8BD5-C4A2E00EB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904" y="2688336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F37"/>
          </a:solidFill>
          <a:ln xmlns:a="http://schemas.openxmlformats.org/drawingml/2006/main" w="12700">
            <a:solidFill>
              <a:srgbClr val="D4AF37"/>
            </a:solidFill>
            <a:prstDash val="solid"/>
          </a:ln>
        </p:spPr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59BD1DDF-AF9E-4AF1-95C7-381E508B1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2208" y="2642616"/>
            <a:ext cx="28346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70">
                <a:solidFill>
                  <a:srgbClr val="F7EBC4"/>
                </a:solidFill>
              </a:rPr>
              <a:t>Statement categorization</a:t>
            </a:r>
            <a:endParaRPr sz="870"/>
          </a:p>
        </p:txBody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030439A9-E5A4-46C6-A6BB-F09E994F9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904" y="2935224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F37"/>
          </a:solidFill>
          <a:ln xmlns:a="http://schemas.openxmlformats.org/drawingml/2006/main" w="12700">
            <a:solidFill>
              <a:srgbClr val="D4AF37"/>
            </a:solidFill>
            <a:prstDash val="solid"/>
          </a:ln>
        </p:spPr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5FF9C8FE-6368-4778-8C21-56F9BD04B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2208" y="2889504"/>
            <a:ext cx="28346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70">
                <a:solidFill>
                  <a:srgbClr val="F7EBC4"/>
                </a:solidFill>
              </a:rPr>
              <a:t>Duplicate detection</a:t>
            </a:r>
            <a:endParaRPr sz="870"/>
          </a:p>
        </p:txBody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B84A512D-60C0-48CD-8C11-9733D420B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3721608"/>
            <a:ext cx="3429000" cy="1691640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141311"/>
          </a:solidFill>
          <a:ln xmlns:a="http://schemas.openxmlformats.org/drawingml/2006/main" w="10160">
            <a:solidFill>
              <a:srgbClr val="352E1B"/>
            </a:solidFill>
            <a:prstDash val="solid"/>
          </a:ln>
          <a:effectLst xmlns:a="http://schemas.openxmlformats.org/drawingml/2006/main">
            <a:outerShdw blurRad="25400" dist="50800" dir="2700000" sx="100000" sy="100000" kx="0" ky="0" algn="bl" rotWithShape="0">
              <a:srgbClr val="000000">
                <a:alpha val="22000"/>
              </a:srgbClr>
            </a:outerShdw>
          </a:effectLst>
        </p:spPr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68476AD3-7DC6-4095-86E1-A8B848BD8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3886200"/>
            <a:ext cx="29260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70">
                <a:solidFill>
                  <a:srgbClr val="D4AF37"/>
                </a:solidFill>
              </a:rPr>
              <a:t>INVESTMENTS</a:t>
            </a:r>
            <a:endParaRPr sz="1000"/>
          </a:p>
        </p:txBody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869534B7-76A4-4C29-9685-36F490EB0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425196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F37"/>
          </a:solidFill>
          <a:ln xmlns:a="http://schemas.openxmlformats.org/drawingml/2006/main" w="12700">
            <a:solidFill>
              <a:srgbClr val="D4AF37"/>
            </a:solidFill>
            <a:prstDash val="solid"/>
          </a:ln>
        </p:spPr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9542A89B-2377-4ED4-B4DA-BE2BEB141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4206240"/>
            <a:ext cx="28346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70">
                <a:solidFill>
                  <a:srgbClr val="F7EBC4"/>
                </a:solidFill>
              </a:rPr>
              <a:t>Multiple holdings</a:t>
            </a:r>
            <a:endParaRPr sz="870"/>
          </a:p>
        </p:txBody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8C71D157-D919-4DC2-A372-DBA05D734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4498848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F37"/>
          </a:solidFill>
          <a:ln xmlns:a="http://schemas.openxmlformats.org/drawingml/2006/main" w="12700">
            <a:solidFill>
              <a:srgbClr val="D4AF37"/>
            </a:solidFill>
            <a:prstDash val="solid"/>
          </a:ln>
        </p:spPr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FE0A1090-D462-4006-B667-178761182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4453128"/>
            <a:ext cx="28346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70">
                <a:solidFill>
                  <a:srgbClr val="F7EBC4"/>
                </a:solidFill>
              </a:rPr>
              <a:t>Dividends + total return</a:t>
            </a:r>
            <a:endParaRPr sz="870"/>
          </a:p>
        </p:txBody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A1334017-B7C5-4FB8-B3E7-DD7F68991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4745736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F37"/>
          </a:solidFill>
          <a:ln xmlns:a="http://schemas.openxmlformats.org/drawingml/2006/main" w="12700">
            <a:solidFill>
              <a:srgbClr val="D4AF37"/>
            </a:solidFill>
            <a:prstDash val="solid"/>
          </a:ln>
        </p:spPr>
      </p:sp>
      <p:sp>
        <p:nvSpPr>
          <p:cNvPr id="41" name="Text 39">
            <a:extLst xmlns:a="http://schemas.openxmlformats.org/drawingml/2006/main">
              <a:ext uri="{FF2B5EF4-FFF2-40B4-BE49-F238E27FC236}">
                <a16:creationId xmlns:a16="http://schemas.microsoft.com/office/drawing/2014/main" id="{9A011771-9FC6-4A05-984E-57E5B3FAA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4700016"/>
            <a:ext cx="28346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70">
                <a:solidFill>
                  <a:srgbClr val="F7EBC4"/>
                </a:solidFill>
              </a:rPr>
              <a:t>Allocation + sectors</a:t>
            </a:r>
            <a:endParaRPr sz="870"/>
          </a:p>
        </p:txBody>
      </p:sp>
      <p:sp>
        <p:nvSpPr>
          <p:cNvPr id="42" name="Shape 40">
            <a:extLst xmlns:a="http://schemas.openxmlformats.org/drawingml/2006/main">
              <a:ext uri="{FF2B5EF4-FFF2-40B4-BE49-F238E27FC236}">
                <a16:creationId xmlns:a16="http://schemas.microsoft.com/office/drawing/2014/main" id="{087CF11D-32AB-47B7-B5D3-46CAB5DD0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4992624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F37"/>
          </a:solidFill>
          <a:ln xmlns:a="http://schemas.openxmlformats.org/drawingml/2006/main" w="12700">
            <a:solidFill>
              <a:srgbClr val="D4AF37"/>
            </a:solidFill>
            <a:prstDash val="solid"/>
          </a:ln>
        </p:spPr>
      </p:sp>
      <p:sp>
        <p:nvSpPr>
          <p:cNvPr id="43" name="Text 41">
            <a:extLst xmlns:a="http://schemas.openxmlformats.org/drawingml/2006/main">
              <a:ext uri="{FF2B5EF4-FFF2-40B4-BE49-F238E27FC236}">
                <a16:creationId xmlns:a16="http://schemas.microsoft.com/office/drawing/2014/main" id="{0B829C76-DD89-49A9-ACA7-39843A3EC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4946904"/>
            <a:ext cx="28346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70">
                <a:solidFill>
                  <a:srgbClr val="F7EBC4"/>
                </a:solidFill>
              </a:rPr>
              <a:t>Watchlist</a:t>
            </a:r>
            <a:endParaRPr sz="870"/>
          </a:p>
        </p:txBody>
      </p:sp>
      <p:sp>
        <p:nvSpPr>
          <p:cNvPr id="44" name="Shape 42">
            <a:extLst xmlns:a="http://schemas.openxmlformats.org/drawingml/2006/main">
              <a:ext uri="{FF2B5EF4-FFF2-40B4-BE49-F238E27FC236}">
                <a16:creationId xmlns:a16="http://schemas.microsoft.com/office/drawing/2014/main" id="{8482FD3E-4DBB-4947-97DF-0FD052D7B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8264" y="3721608"/>
            <a:ext cx="3429000" cy="1691640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141311"/>
          </a:solidFill>
          <a:ln xmlns:a="http://schemas.openxmlformats.org/drawingml/2006/main" w="10160">
            <a:solidFill>
              <a:srgbClr val="352E1B"/>
            </a:solidFill>
            <a:prstDash val="solid"/>
          </a:ln>
          <a:effectLst xmlns:a="http://schemas.openxmlformats.org/drawingml/2006/main">
            <a:outerShdw blurRad="25400" dist="50800" dir="2700000" sx="100000" sy="100000" kx="0" ky="0" algn="bl" rotWithShape="0">
              <a:srgbClr val="000000">
                <a:alpha val="22000"/>
              </a:srgbClr>
            </a:outerShdw>
          </a:effectLst>
        </p:spPr>
      </p:sp>
      <p:sp>
        <p:nvSpPr>
          <p:cNvPr id="45" name="Text 43">
            <a:extLst xmlns:a="http://schemas.openxmlformats.org/drawingml/2006/main">
              <a:ext uri="{FF2B5EF4-FFF2-40B4-BE49-F238E27FC236}">
                <a16:creationId xmlns:a16="http://schemas.microsoft.com/office/drawing/2014/main" id="{F244A8EA-8B6E-4206-BC1C-13CCA17E3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856" y="3886200"/>
            <a:ext cx="29260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70">
                <a:solidFill>
                  <a:srgbClr val="D4AF37"/>
                </a:solidFill>
              </a:rPr>
              <a:t>AI WORKSPACE</a:t>
            </a:r>
            <a:endParaRPr sz="1000"/>
          </a:p>
        </p:txBody>
      </p:sp>
      <p:sp>
        <p:nvSpPr>
          <p:cNvPr id="46" name="Shape 44">
            <a:extLst xmlns:a="http://schemas.openxmlformats.org/drawingml/2006/main">
              <a:ext uri="{FF2B5EF4-FFF2-40B4-BE49-F238E27FC236}">
                <a16:creationId xmlns:a16="http://schemas.microsoft.com/office/drawing/2014/main" id="{044FE7D2-EDE3-4854-B535-56989F7F4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144" y="425196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F37"/>
          </a:solidFill>
          <a:ln xmlns:a="http://schemas.openxmlformats.org/drawingml/2006/main" w="12700">
            <a:solidFill>
              <a:srgbClr val="D4AF37"/>
            </a:solidFill>
            <a:prstDash val="solid"/>
          </a:ln>
        </p:spPr>
      </p:sp>
      <p:sp>
        <p:nvSpPr>
          <p:cNvPr id="47" name="Text 45">
            <a:extLst xmlns:a="http://schemas.openxmlformats.org/drawingml/2006/main">
              <a:ext uri="{FF2B5EF4-FFF2-40B4-BE49-F238E27FC236}">
                <a16:creationId xmlns:a16="http://schemas.microsoft.com/office/drawing/2014/main" id="{B6F191C1-FA4F-47AE-BB0F-6E7F76645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7448" y="4206240"/>
            <a:ext cx="28346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70">
                <a:solidFill>
                  <a:srgbClr val="F7EBC4"/>
                </a:solidFill>
              </a:rPr>
              <a:t>Spending summaries</a:t>
            </a:r>
            <a:endParaRPr sz="870"/>
          </a:p>
        </p:txBody>
      </p:sp>
      <p:sp>
        <p:nvSpPr>
          <p:cNvPr id="48" name="Shape 46">
            <a:extLst xmlns:a="http://schemas.openxmlformats.org/drawingml/2006/main">
              <a:ext uri="{FF2B5EF4-FFF2-40B4-BE49-F238E27FC236}">
                <a16:creationId xmlns:a16="http://schemas.microsoft.com/office/drawing/2014/main" id="{554E7184-D41D-4CE8-82EF-BE5492536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144" y="4498848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F37"/>
          </a:solidFill>
          <a:ln xmlns:a="http://schemas.openxmlformats.org/drawingml/2006/main" w="12700">
            <a:solidFill>
              <a:srgbClr val="D4AF37"/>
            </a:solidFill>
            <a:prstDash val="solid"/>
          </a:ln>
        </p:spPr>
      </p:sp>
      <p:sp>
        <p:nvSpPr>
          <p:cNvPr id="49" name="Text 47">
            <a:extLst xmlns:a="http://schemas.openxmlformats.org/drawingml/2006/main">
              <a:ext uri="{FF2B5EF4-FFF2-40B4-BE49-F238E27FC236}">
                <a16:creationId xmlns:a16="http://schemas.microsoft.com/office/drawing/2014/main" id="{A9AAD676-DEC3-4934-9EDB-8F7758F86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7448" y="4453128"/>
            <a:ext cx="28346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70">
                <a:solidFill>
                  <a:srgbClr val="F7EBC4"/>
                </a:solidFill>
              </a:rPr>
              <a:t>Context-aware Q&amp;A</a:t>
            </a:r>
            <a:endParaRPr sz="870"/>
          </a:p>
        </p:txBody>
      </p:sp>
      <p:sp>
        <p:nvSpPr>
          <p:cNvPr id="50" name="Shape 48">
            <a:extLst xmlns:a="http://schemas.openxmlformats.org/drawingml/2006/main">
              <a:ext uri="{FF2B5EF4-FFF2-40B4-BE49-F238E27FC236}">
                <a16:creationId xmlns:a16="http://schemas.microsoft.com/office/drawing/2014/main" id="{AA717708-0CC9-4DB5-973F-173CBB650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144" y="4745736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F37"/>
          </a:solidFill>
          <a:ln xmlns:a="http://schemas.openxmlformats.org/drawingml/2006/main" w="12700">
            <a:solidFill>
              <a:srgbClr val="D4AF37"/>
            </a:solidFill>
            <a:prstDash val="solid"/>
          </a:ln>
        </p:spPr>
      </p:sp>
      <p:sp>
        <p:nvSpPr>
          <p:cNvPr id="51" name="Text 49">
            <a:extLst xmlns:a="http://schemas.openxmlformats.org/drawingml/2006/main">
              <a:ext uri="{FF2B5EF4-FFF2-40B4-BE49-F238E27FC236}">
                <a16:creationId xmlns:a16="http://schemas.microsoft.com/office/drawing/2014/main" id="{7B29CAB8-44B8-455C-9EF9-AA1E24FCA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7448" y="4700016"/>
            <a:ext cx="28346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70">
                <a:solidFill>
                  <a:srgbClr val="F7EBC4"/>
                </a:solidFill>
              </a:rPr>
              <a:t>Transaction explainer</a:t>
            </a:r>
            <a:endParaRPr sz="870"/>
          </a:p>
        </p:txBody>
      </p:sp>
      <p:sp>
        <p:nvSpPr>
          <p:cNvPr id="52" name="Shape 50">
            <a:extLst xmlns:a="http://schemas.openxmlformats.org/drawingml/2006/main">
              <a:ext uri="{FF2B5EF4-FFF2-40B4-BE49-F238E27FC236}">
                <a16:creationId xmlns:a16="http://schemas.microsoft.com/office/drawing/2014/main" id="{3FC40E68-DE82-4F02-963F-6BD82FA9E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144" y="4992624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F37"/>
          </a:solidFill>
          <a:ln xmlns:a="http://schemas.openxmlformats.org/drawingml/2006/main" w="12700">
            <a:solidFill>
              <a:srgbClr val="D4AF37"/>
            </a:solidFill>
            <a:prstDash val="solid"/>
          </a:ln>
        </p:spPr>
      </p:sp>
      <p:sp>
        <p:nvSpPr>
          <p:cNvPr id="53" name="Text 51">
            <a:extLst xmlns:a="http://schemas.openxmlformats.org/drawingml/2006/main">
              <a:ext uri="{FF2B5EF4-FFF2-40B4-BE49-F238E27FC236}">
                <a16:creationId xmlns:a16="http://schemas.microsoft.com/office/drawing/2014/main" id="{7603AE6B-C187-485D-9D37-88EA8DD39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7448" y="4946904"/>
            <a:ext cx="28346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70">
                <a:solidFill>
                  <a:srgbClr val="F7EBC4"/>
                </a:solidFill>
              </a:rPr>
              <a:t>Scam screening</a:t>
            </a:r>
            <a:endParaRPr sz="870"/>
          </a:p>
        </p:txBody>
      </p:sp>
      <p:sp>
        <p:nvSpPr>
          <p:cNvPr id="54" name="Shape 52">
            <a:extLst xmlns:a="http://schemas.openxmlformats.org/drawingml/2006/main">
              <a:ext uri="{FF2B5EF4-FFF2-40B4-BE49-F238E27FC236}">
                <a16:creationId xmlns:a16="http://schemas.microsoft.com/office/drawing/2014/main" id="{6054AF52-5153-4CDB-B241-D64BD4E79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3024" y="3721608"/>
            <a:ext cx="3429000" cy="1691640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141311"/>
          </a:solidFill>
          <a:ln xmlns:a="http://schemas.openxmlformats.org/drawingml/2006/main" w="10160">
            <a:solidFill>
              <a:srgbClr val="352E1B"/>
            </a:solidFill>
            <a:prstDash val="solid"/>
          </a:ln>
          <a:effectLst xmlns:a="http://schemas.openxmlformats.org/drawingml/2006/main">
            <a:outerShdw blurRad="25400" dist="50800" dir="2700000" sx="100000" sy="100000" kx="0" ky="0" algn="bl" rotWithShape="0">
              <a:srgbClr val="000000">
                <a:alpha val="22000"/>
              </a:srgbClr>
            </a:outerShdw>
          </a:effectLst>
        </p:spPr>
      </p:sp>
      <p:sp>
        <p:nvSpPr>
          <p:cNvPr id="55" name="Text 53">
            <a:extLst xmlns:a="http://schemas.openxmlformats.org/drawingml/2006/main">
              <a:ext uri="{FF2B5EF4-FFF2-40B4-BE49-F238E27FC236}">
                <a16:creationId xmlns:a16="http://schemas.microsoft.com/office/drawing/2014/main" id="{D33C6A5E-F6B0-4991-B0F6-E46131DAF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7616" y="3886200"/>
            <a:ext cx="29260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70">
                <a:solidFill>
                  <a:srgbClr val="D4AF37"/>
                </a:solidFill>
              </a:rPr>
              <a:t>MARKET DATA</a:t>
            </a:r>
            <a:endParaRPr sz="1000"/>
          </a:p>
        </p:txBody>
      </p:sp>
      <p:sp>
        <p:nvSpPr>
          <p:cNvPr id="56" name="Shape 54">
            <a:extLst xmlns:a="http://schemas.openxmlformats.org/drawingml/2006/main">
              <a:ext uri="{FF2B5EF4-FFF2-40B4-BE49-F238E27FC236}">
                <a16:creationId xmlns:a16="http://schemas.microsoft.com/office/drawing/2014/main" id="{02AD7172-2AD6-4C16-8A8B-2EC3BB69A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904" y="425196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F37"/>
          </a:solidFill>
          <a:ln xmlns:a="http://schemas.openxmlformats.org/drawingml/2006/main" w="12700">
            <a:solidFill>
              <a:srgbClr val="D4AF37"/>
            </a:solidFill>
            <a:prstDash val="solid"/>
          </a:ln>
        </p:spPr>
      </p:sp>
      <p:sp>
        <p:nvSpPr>
          <p:cNvPr id="57" name="Text 55">
            <a:extLst xmlns:a="http://schemas.openxmlformats.org/drawingml/2006/main">
              <a:ext uri="{FF2B5EF4-FFF2-40B4-BE49-F238E27FC236}">
                <a16:creationId xmlns:a16="http://schemas.microsoft.com/office/drawing/2014/main" id="{CBA9C5A6-176F-46D0-BDB1-E591E27E7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2208" y="4206240"/>
            <a:ext cx="28346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70">
                <a:solidFill>
                  <a:srgbClr val="F7EBC4"/>
                </a:solidFill>
              </a:rPr>
              <a:t>Asset reference values</a:t>
            </a:r>
            <a:endParaRPr sz="870"/>
          </a:p>
        </p:txBody>
      </p:sp>
      <p:sp>
        <p:nvSpPr>
          <p:cNvPr id="58" name="Shape 56">
            <a:extLst xmlns:a="http://schemas.openxmlformats.org/drawingml/2006/main">
              <a:ext uri="{FF2B5EF4-FFF2-40B4-BE49-F238E27FC236}">
                <a16:creationId xmlns:a16="http://schemas.microsoft.com/office/drawing/2014/main" id="{3C7F2719-E2D7-4A82-BE1E-1D7BCC2FD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904" y="4498848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F37"/>
          </a:solidFill>
          <a:ln xmlns:a="http://schemas.openxmlformats.org/drawingml/2006/main" w="12700">
            <a:solidFill>
              <a:srgbClr val="D4AF37"/>
            </a:solidFill>
            <a:prstDash val="solid"/>
          </a:ln>
        </p:spPr>
      </p:sp>
      <p:sp>
        <p:nvSpPr>
          <p:cNvPr id="59" name="Text 57">
            <a:extLst xmlns:a="http://schemas.openxmlformats.org/drawingml/2006/main">
              <a:ext uri="{FF2B5EF4-FFF2-40B4-BE49-F238E27FC236}">
                <a16:creationId xmlns:a16="http://schemas.microsoft.com/office/drawing/2014/main" id="{630B3ABB-E02F-4020-9E45-65FD0FC5C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2208" y="4453128"/>
            <a:ext cx="28346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70">
                <a:solidFill>
                  <a:srgbClr val="F7EBC4"/>
                </a:solidFill>
              </a:rPr>
              <a:t>Price + change</a:t>
            </a:r>
            <a:endParaRPr sz="870"/>
          </a:p>
        </p:txBody>
      </p:sp>
      <p:sp>
        <p:nvSpPr>
          <p:cNvPr id="60" name="Shape 58">
            <a:extLst xmlns:a="http://schemas.openxmlformats.org/drawingml/2006/main">
              <a:ext uri="{FF2B5EF4-FFF2-40B4-BE49-F238E27FC236}">
                <a16:creationId xmlns:a16="http://schemas.microsoft.com/office/drawing/2014/main" id="{39DF1832-87CF-4657-9775-89FD4F5D9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904" y="4745736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F37"/>
          </a:solidFill>
          <a:ln xmlns:a="http://schemas.openxmlformats.org/drawingml/2006/main" w="12700">
            <a:solidFill>
              <a:srgbClr val="D4AF37"/>
            </a:solidFill>
            <a:prstDash val="solid"/>
          </a:ln>
        </p:spPr>
      </p:sp>
      <p:sp>
        <p:nvSpPr>
          <p:cNvPr id="61" name="Text 59">
            <a:extLst xmlns:a="http://schemas.openxmlformats.org/drawingml/2006/main">
              <a:ext uri="{FF2B5EF4-FFF2-40B4-BE49-F238E27FC236}">
                <a16:creationId xmlns:a16="http://schemas.microsoft.com/office/drawing/2014/main" id="{E52AD823-2EF0-4F20-93FE-AB20EE19C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2208" y="4700016"/>
            <a:ext cx="28346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70">
                <a:solidFill>
                  <a:srgbClr val="F7EBC4"/>
                </a:solidFill>
              </a:rPr>
              <a:t>Feed metadata</a:t>
            </a:r>
            <a:endParaRPr sz="870"/>
          </a:p>
        </p:txBody>
      </p:sp>
      <p:sp>
        <p:nvSpPr>
          <p:cNvPr id="62" name="Shape 60">
            <a:extLst xmlns:a="http://schemas.openxmlformats.org/drawingml/2006/main">
              <a:ext uri="{FF2B5EF4-FFF2-40B4-BE49-F238E27FC236}">
                <a16:creationId xmlns:a16="http://schemas.microsoft.com/office/drawing/2014/main" id="{54DDFC49-71E8-4C9A-B5FD-CF26D6CEC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904" y="4992624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F37"/>
          </a:solidFill>
          <a:ln xmlns:a="http://schemas.openxmlformats.org/drawingml/2006/main" w="12700">
            <a:solidFill>
              <a:srgbClr val="D4AF37"/>
            </a:solidFill>
            <a:prstDash val="solid"/>
          </a:ln>
        </p:spPr>
      </p:sp>
      <p:sp>
        <p:nvSpPr>
          <p:cNvPr id="63" name="Text 61">
            <a:extLst xmlns:a="http://schemas.openxmlformats.org/drawingml/2006/main">
              <a:ext uri="{FF2B5EF4-FFF2-40B4-BE49-F238E27FC236}">
                <a16:creationId xmlns:a16="http://schemas.microsoft.com/office/drawing/2014/main" id="{E8956776-61B8-4235-A7F3-E753966C6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2208" y="4946904"/>
            <a:ext cx="28346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70">
                <a:solidFill>
                  <a:srgbClr val="F7EBC4"/>
                </a:solidFill>
              </a:rPr>
              <a:t>Cache + demo fallback</a:t>
            </a:r>
            <a:endParaRPr sz="870"/>
          </a:p>
        </p:txBody>
      </p:sp>
      <p:sp>
        <p:nvSpPr>
          <p:cNvPr id="64" name="Text 62">
            <a:extLst xmlns:a="http://schemas.openxmlformats.org/drawingml/2006/main">
              <a:ext uri="{FF2B5EF4-FFF2-40B4-BE49-F238E27FC236}">
                <a16:creationId xmlns:a16="http://schemas.microsoft.com/office/drawing/2014/main" id="{6FA69947-D2BB-40CA-BE31-F162F5DDF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5989320"/>
            <a:ext cx="10058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4D675"/>
                </a:solidFill>
              </a:rPr>
              <a:t>31 automated tests</a:t>
            </a:r>
            <a:r>
              <a:rPr sz="1200" b="1">
                <a:solidFill>
                  <a:srgbClr val="F4D675"/>
                </a:solidFill>
              </a:rPr>
              <a:t> validate calculations, persistence, imports, market fallbacks and AI rules.</a:t>
            </a:r>
            <a:endParaRPr sz="1200"/>
          </a:p>
        </p:txBody>
      </p:sp>
      <p:sp>
        <p:nvSpPr>
          <p:cNvPr id="6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2DAE5AEF-3519-4FF5-8BD6-DF8F6E03F893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704320" y="6510528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700">
                <a:solidFill>
                  <a:srgbClr val="8F8056"/>
                </a:solidFill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940070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2B2DDE2-E5C0-4503-943F-AA149B837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048"/>
            <a:ext cx="310896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 spc="200">
                <a:solidFill>
                  <a:srgbClr val="D4AF37"/>
                </a:solidFill>
              </a:rPr>
              <a:t>EXPERIENCE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F3AEA5F-829A-4D0C-963A-AA393220D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13232"/>
            <a:ext cx="1097280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700" b="1">
                <a:solidFill>
                  <a:srgbClr val="F7EBC4"/>
                </a:solidFill>
              </a:rPr>
              <a:t>A dashboard designed for decisions</a:t>
            </a:r>
            <a:endParaRPr sz="27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0F5E38B3-2F68-4D22-915F-03724F3E4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298448"/>
            <a:ext cx="10515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B8AA84"/>
                </a:solidFill>
              </a:rPr>
              <a:t>Black-and-gold visual system with persistent light and dark modes.</a:t>
            </a:r>
            <a:endParaRPr sz="12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A7E16444-B761-4645-AF30-87F668E5D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645920"/>
            <a:ext cx="11018520" cy="452628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0E0E0D"/>
          </a:solidFill>
          <a:ln xmlns:a="http://schemas.openxmlformats.org/drawingml/2006/main" w="10160">
            <a:solidFill>
              <a:srgbClr val="544315"/>
            </a:solidFill>
            <a:prstDash val="solid"/>
          </a:ln>
          <a:effectLst xmlns:a="http://schemas.openxmlformats.org/drawingml/2006/main">
            <a:outerShdw blurRad="25400" dist="50800" dir="2700000" sx="100000" sy="100000" kx="0" ky="0" algn="bl" rotWithShape="0">
              <a:srgbClr val="000000">
                <a:alpha val="22000"/>
              </a:srgbClr>
            </a:outerShdw>
          </a:effectLst>
        </p:spPr>
      </p:sp>
      <p:pic>
        <p:nvPicPr>
          <p:cNvPr id="5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3566d93f924a7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4672" y="1865376"/>
            <a:ext cx="566928" cy="566928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08633AE9-C6B7-4645-AA10-3C8A02E30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1938528"/>
            <a:ext cx="1325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 spc="150">
                <a:solidFill>
                  <a:srgbClr val="D4AF37"/>
                </a:solidFill>
              </a:rPr>
              <a:t>VIZIER</a:t>
            </a:r>
            <a:endParaRPr sz="1500"/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9F6FFBBF-307E-4AEE-9C9A-C63CA6CAB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1938528"/>
            <a:ext cx="786384" cy="310896"/>
          </a:xfrm>
          <a:prstGeom xmlns:a="http://schemas.openxmlformats.org/drawingml/2006/main" prst="roundRect">
            <a:avLst>
              <a:gd name="adj" fmla="val 41176"/>
            </a:avLst>
          </a:prstGeom>
          <a:solidFill xmlns:a="http://schemas.openxmlformats.org/drawingml/2006/main">
            <a:srgbClr val="2A2416"/>
          </a:solidFill>
          <a:ln xmlns:a="http://schemas.openxmlformats.org/drawingml/2006/main" w="6350">
            <a:solidFill>
              <a:srgbClr val="5E4B1C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490BDD23-AD81-4640-B8EE-D31716BCE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2792" y="2020824"/>
            <a:ext cx="640080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00" b="1">
                <a:solidFill>
                  <a:srgbClr val="F4D675"/>
                </a:solidFill>
              </a:rPr>
              <a:t>OVERVIEW</a:t>
            </a:r>
            <a:endParaRPr sz="700"/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C54B5C6A-4EDF-40E2-862F-4B6685D76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1938528"/>
            <a:ext cx="786384" cy="310896"/>
          </a:xfrm>
          <a:prstGeom xmlns:a="http://schemas.openxmlformats.org/drawingml/2006/main" prst="roundRect">
            <a:avLst>
              <a:gd name="adj" fmla="val 41176"/>
            </a:avLst>
          </a:prstGeom>
          <a:solidFill xmlns:a="http://schemas.openxmlformats.org/drawingml/2006/main">
            <a:srgbClr val="2A2416"/>
          </a:solidFill>
          <a:ln xmlns:a="http://schemas.openxmlformats.org/drawingml/2006/main" w="6350">
            <a:solidFill>
              <a:srgbClr val="5E4B1C"/>
            </a:solidFill>
            <a:prstDash val="solid"/>
          </a:ln>
        </p:spPr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DD2BA103-7DA4-4414-BD2F-2D46E4A42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1472" y="2020824"/>
            <a:ext cx="640080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00" b="1">
                <a:solidFill>
                  <a:srgbClr val="F4D675"/>
                </a:solidFill>
              </a:rPr>
              <a:t>BUDGET</a:t>
            </a:r>
            <a:endParaRPr sz="70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81545219-BC59-472E-9A52-3E6A0698A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938528"/>
            <a:ext cx="786384" cy="310896"/>
          </a:xfrm>
          <a:prstGeom xmlns:a="http://schemas.openxmlformats.org/drawingml/2006/main" prst="roundRect">
            <a:avLst>
              <a:gd name="adj" fmla="val 41176"/>
            </a:avLst>
          </a:prstGeom>
          <a:solidFill xmlns:a="http://schemas.openxmlformats.org/drawingml/2006/main">
            <a:srgbClr val="2A2416"/>
          </a:solidFill>
          <a:ln xmlns:a="http://schemas.openxmlformats.org/drawingml/2006/main" w="6350">
            <a:solidFill>
              <a:srgbClr val="5E4B1C"/>
            </a:solidFill>
            <a:prstDash val="solid"/>
          </a:ln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70304424-22C7-4499-94A0-368AACC01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0152" y="2020824"/>
            <a:ext cx="640080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00" b="1">
                <a:solidFill>
                  <a:srgbClr val="F4D675"/>
                </a:solidFill>
              </a:rPr>
              <a:t>INVEST</a:t>
            </a:r>
            <a:endParaRPr sz="70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A028FDAF-7CF7-4D7E-96A4-636F97620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2679192"/>
            <a:ext cx="2148840" cy="96012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41311"/>
          </a:solidFill>
          <a:ln xmlns:a="http://schemas.openxmlformats.org/drawingml/2006/main" w="10160">
            <a:solidFill>
              <a:srgbClr val="352E1B"/>
            </a:solidFill>
            <a:prstDash val="solid"/>
          </a:ln>
          <a:effectLst xmlns:a="http://schemas.openxmlformats.org/drawingml/2006/main">
            <a:outerShdw blurRad="25400" dist="50800" dir="2700000" sx="100000" sy="100000" kx="0" ky="0" algn="bl" rotWithShape="0">
              <a:srgbClr val="000000">
                <a:alpha val="22000"/>
              </a:srgbClr>
            </a:outerShdw>
          </a:effectLst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7E76A406-1656-43A7-BE22-B0C67B097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825496"/>
            <a:ext cx="1819656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 b="1" spc="50">
                <a:solidFill>
                  <a:srgbClr val="B8AA84"/>
                </a:solidFill>
              </a:rPr>
              <a:t>MONTHLY INCOME</a:t>
            </a:r>
            <a:endParaRPr sz="80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225BE618-B826-4109-B368-B732BDC16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063240"/>
            <a:ext cx="181965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4737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900" b="1">
                <a:solidFill>
                  <a:srgbClr val="D4AF37"/>
                </a:solidFill>
              </a:rPr>
              <a:t>ETB</a:t>
            </a:r>
            <a:r>
              <a:rPr sz="1900" b="1">
                <a:solidFill>
                  <a:srgbClr val="D4AF37"/>
                </a:solidFill>
              </a:rPr>
              <a:t> 80,000</a:t>
            </a:r>
            <a:endParaRPr sz="1900"/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257971A2-86E8-4D35-A877-CF82D8AD4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5536" y="2679192"/>
            <a:ext cx="2148840" cy="96012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41311"/>
          </a:solidFill>
          <a:ln xmlns:a="http://schemas.openxmlformats.org/drawingml/2006/main" w="10160">
            <a:solidFill>
              <a:srgbClr val="352E1B"/>
            </a:solidFill>
            <a:prstDash val="solid"/>
          </a:ln>
          <a:effectLst xmlns:a="http://schemas.openxmlformats.org/drawingml/2006/main">
            <a:outerShdw blurRad="25400" dist="50800" dir="2700000" sx="100000" sy="100000" kx="0" ky="0" algn="bl" rotWithShape="0">
              <a:srgbClr val="000000">
                <a:alpha val="22000"/>
              </a:srgbClr>
            </a:outerShdw>
          </a:effectLst>
        </p:spPr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1485541B-2374-4B65-BB45-DD7E07894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0128" y="2825496"/>
            <a:ext cx="1819656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 b="1" spc="50">
                <a:solidFill>
                  <a:srgbClr val="B8AA84"/>
                </a:solidFill>
              </a:rPr>
              <a:t>TOTAL EXPENSES</a:t>
            </a:r>
            <a:endParaRPr sz="800"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3DF6C82F-6309-4C0C-AC30-EF901FCB3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0128" y="3063240"/>
            <a:ext cx="181965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4737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900" b="1">
                <a:solidFill>
                  <a:srgbClr val="F7EBC4"/>
                </a:solidFill>
              </a:rPr>
              <a:t>ETB</a:t>
            </a:r>
            <a:r>
              <a:rPr sz="1900" b="1">
                <a:solidFill>
                  <a:srgbClr val="F7EBC4"/>
                </a:solidFill>
              </a:rPr>
              <a:t> 58,000</a:t>
            </a:r>
            <a:endParaRPr sz="1900"/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74E138FE-E122-4ADC-A3FA-A07279D2B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9824" y="2679192"/>
            <a:ext cx="2148840" cy="96012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41311"/>
          </a:solidFill>
          <a:ln xmlns:a="http://schemas.openxmlformats.org/drawingml/2006/main" w="10160">
            <a:solidFill>
              <a:srgbClr val="352E1B"/>
            </a:solidFill>
            <a:prstDash val="solid"/>
          </a:ln>
          <a:effectLst xmlns:a="http://schemas.openxmlformats.org/drawingml/2006/main">
            <a:outerShdw blurRad="25400" dist="50800" dir="2700000" sx="100000" sy="100000" kx="0" ky="0" algn="bl" rotWithShape="0">
              <a:srgbClr val="000000">
                <a:alpha val="22000"/>
              </a:srgbClr>
            </a:outerShdw>
          </a:effectLst>
        </p:spPr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68B600BA-276D-4DE3-A9EB-2C59F0607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4416" y="2825496"/>
            <a:ext cx="1819656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 b="1" spc="50">
                <a:solidFill>
                  <a:srgbClr val="B8AA84"/>
                </a:solidFill>
              </a:rPr>
              <a:t>MONTHLY SAVINGS</a:t>
            </a:r>
            <a:endParaRPr sz="800"/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D356C832-84EF-4243-9D6A-BBB091A60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4416" y="3063240"/>
            <a:ext cx="181965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4737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900" b="1">
                <a:solidFill>
                  <a:srgbClr val="55C994"/>
                </a:solidFill>
              </a:rPr>
              <a:t>ETB</a:t>
            </a:r>
            <a:r>
              <a:rPr sz="1900" b="1">
                <a:solidFill>
                  <a:srgbClr val="55C994"/>
                </a:solidFill>
              </a:rPr>
              <a:t> 22,000</a:t>
            </a:r>
            <a:endParaRPr sz="1900"/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8B27452E-BEE1-40DA-8018-688185411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4112" y="2679192"/>
            <a:ext cx="2148840" cy="96012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41311"/>
          </a:solidFill>
          <a:ln xmlns:a="http://schemas.openxmlformats.org/drawingml/2006/main" w="10160">
            <a:solidFill>
              <a:srgbClr val="352E1B"/>
            </a:solidFill>
            <a:prstDash val="solid"/>
          </a:ln>
          <a:effectLst xmlns:a="http://schemas.openxmlformats.org/drawingml/2006/main">
            <a:outerShdw blurRad="25400" dist="50800" dir="2700000" sx="100000" sy="100000" kx="0" ky="0" algn="bl" rotWithShape="0">
              <a:srgbClr val="000000">
                <a:alpha val="22000"/>
              </a:srgbClr>
            </a:outerShdw>
          </a:effectLst>
        </p:spPr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1B4EB29C-D935-426A-93C9-BBF5BD89D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8704" y="2825496"/>
            <a:ext cx="1819656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 b="1" spc="50">
                <a:solidFill>
                  <a:srgbClr val="B8AA84"/>
                </a:solidFill>
              </a:rPr>
              <a:t>HEALTH SCORE</a:t>
            </a:r>
            <a:endParaRPr sz="800"/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1E67971C-0A3A-4ECD-8D5B-234ECDDAF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8704" y="3063240"/>
            <a:ext cx="181965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900" b="1">
                <a:solidFill>
                  <a:srgbClr val="F4D675"/>
                </a:solidFill>
              </a:rPr>
              <a:t>82 / 100</a:t>
            </a:r>
            <a:endParaRPr sz="1900"/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6D44AE20-51A1-4FC5-A26B-A6B1822FC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3886200"/>
            <a:ext cx="5166360" cy="178308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16140F"/>
          </a:solidFill>
          <a:ln xmlns:a="http://schemas.openxmlformats.org/drawingml/2006/main" w="10160">
            <a:solidFill>
              <a:srgbClr val="352E1B"/>
            </a:solidFill>
            <a:prstDash val="solid"/>
          </a:ln>
          <a:effectLst xmlns:a="http://schemas.openxmlformats.org/drawingml/2006/main">
            <a:outerShdw blurRad="25400" dist="50800" dir="2700000" sx="100000" sy="100000" kx="0" ky="0" algn="bl" rotWithShape="0">
              <a:srgbClr val="000000">
                <a:alpha val="22000"/>
              </a:srgbClr>
            </a:outerShdw>
          </a:effectLst>
        </p:spPr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39B19883-3998-479B-AC57-63B3AB677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105656"/>
            <a:ext cx="29260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70">
                <a:solidFill>
                  <a:srgbClr val="D4AF37"/>
                </a:solidFill>
              </a:rPr>
              <a:t>SPENDING BREAKDOWN</a:t>
            </a:r>
            <a:endParaRPr sz="1000"/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3FAB0F15-D798-4D6F-9EB1-E5E59ACD5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" y="4443984"/>
            <a:ext cx="960120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>
                <a:solidFill>
                  <a:srgbClr val="B8AA84"/>
                </a:solidFill>
              </a:rPr>
              <a:t>Rent</a:t>
            </a:r>
            <a:endParaRPr sz="750"/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16467D77-7D54-44FF-BAF3-AF2A2B745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3392" y="4462272"/>
            <a:ext cx="3291840" cy="822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F37"/>
          </a:solidFill>
          <a:ln xmlns:a="http://schemas.openxmlformats.org/drawingml/2006/main" w="12700">
            <a:solidFill>
              <a:srgbClr val="D4AF37"/>
            </a:solidFill>
            <a:prstDash val="solid"/>
          </a:ln>
        </p:spPr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24DAF5CD-5A2A-4AE0-850A-7E14E8A9A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" y="4663440"/>
            <a:ext cx="960120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>
                <a:solidFill>
                  <a:srgbClr val="B8AA84"/>
                </a:solidFill>
              </a:rPr>
              <a:t>Food</a:t>
            </a:r>
            <a:endParaRPr sz="750"/>
          </a:p>
        </p:txBody>
      </p:sp>
      <p:sp>
        <p:nvSpPr>
          <p:cNvPr id="31" name="Shape 28">
            <a:extLst xmlns:a="http://schemas.openxmlformats.org/drawingml/2006/main">
              <a:ext uri="{FF2B5EF4-FFF2-40B4-BE49-F238E27FC236}">
                <a16:creationId xmlns:a16="http://schemas.microsoft.com/office/drawing/2014/main" id="{C6155695-2D69-4BEC-B5A4-9C5796ABC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3392" y="4681728"/>
            <a:ext cx="1990415" cy="822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6426"/>
          </a:solidFill>
          <a:ln xmlns:a="http://schemas.openxmlformats.org/drawingml/2006/main" w="12700">
            <a:solidFill>
              <a:srgbClr val="7A6426"/>
            </a:solidFill>
            <a:prstDash val="solid"/>
          </a:ln>
        </p:spPr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D680FA00-16A9-422C-8EAE-E7FBC36A1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" y="4882896"/>
            <a:ext cx="960120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>
                <a:solidFill>
                  <a:srgbClr val="B8AA84"/>
                </a:solidFill>
              </a:rPr>
              <a:t>Transport</a:t>
            </a:r>
            <a:endParaRPr sz="750"/>
          </a:p>
        </p:txBody>
      </p:sp>
      <p:sp>
        <p:nvSpPr>
          <p:cNvPr id="33" name="Shape 30">
            <a:extLst xmlns:a="http://schemas.openxmlformats.org/drawingml/2006/main">
              <a:ext uri="{FF2B5EF4-FFF2-40B4-BE49-F238E27FC236}">
                <a16:creationId xmlns:a16="http://schemas.microsoft.com/office/drawing/2014/main" id="{BD0B8E5B-E278-4333-A439-82DC7A5AC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3392" y="4901184"/>
            <a:ext cx="1071762" cy="822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6426"/>
          </a:solidFill>
          <a:ln xmlns:a="http://schemas.openxmlformats.org/drawingml/2006/main" w="12700">
            <a:solidFill>
              <a:srgbClr val="7A6426"/>
            </a:solidFill>
            <a:prstDash val="solid"/>
          </a:ln>
        </p:spPr>
      </p:sp>
      <p:sp>
        <p:nvSpPr>
          <p:cNvPr id="34" name="Text 31">
            <a:extLst xmlns:a="http://schemas.openxmlformats.org/drawingml/2006/main">
              <a:ext uri="{FF2B5EF4-FFF2-40B4-BE49-F238E27FC236}">
                <a16:creationId xmlns:a16="http://schemas.microsoft.com/office/drawing/2014/main" id="{0B5C9A42-AAEB-4EEC-BB9D-A4AFA9369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" y="5102352"/>
            <a:ext cx="960120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>
                <a:solidFill>
                  <a:srgbClr val="B8AA84"/>
                </a:solidFill>
              </a:rPr>
              <a:t>Utilities</a:t>
            </a:r>
            <a:endParaRPr sz="750"/>
          </a:p>
        </p:txBody>
      </p:sp>
      <p:sp>
        <p:nvSpPr>
          <p:cNvPr id="35" name="Shape 32">
            <a:extLst xmlns:a="http://schemas.openxmlformats.org/drawingml/2006/main">
              <a:ext uri="{FF2B5EF4-FFF2-40B4-BE49-F238E27FC236}">
                <a16:creationId xmlns:a16="http://schemas.microsoft.com/office/drawing/2014/main" id="{E421B030-165E-4D16-8A03-CB8B921D1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3392" y="5120640"/>
            <a:ext cx="688990" cy="822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6426"/>
          </a:solidFill>
          <a:ln xmlns:a="http://schemas.openxmlformats.org/drawingml/2006/main" w="12700">
            <a:solidFill>
              <a:srgbClr val="7A6426"/>
            </a:solidFill>
            <a:prstDash val="solid"/>
          </a:ln>
        </p:spPr>
      </p:sp>
      <p:sp>
        <p:nvSpPr>
          <p:cNvPr id="36" name="Text 33">
            <a:extLst xmlns:a="http://schemas.openxmlformats.org/drawingml/2006/main">
              <a:ext uri="{FF2B5EF4-FFF2-40B4-BE49-F238E27FC236}">
                <a16:creationId xmlns:a16="http://schemas.microsoft.com/office/drawing/2014/main" id="{40930BC2-7C03-491F-A8BF-B910AB7C4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" y="5321808"/>
            <a:ext cx="960120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>
                <a:solidFill>
                  <a:srgbClr val="B8AA84"/>
                </a:solidFill>
              </a:rPr>
              <a:t>Other</a:t>
            </a:r>
            <a:endParaRPr sz="750"/>
          </a:p>
        </p:txBody>
      </p:sp>
      <p:sp>
        <p:nvSpPr>
          <p:cNvPr id="37" name="Shape 34">
            <a:extLst xmlns:a="http://schemas.openxmlformats.org/drawingml/2006/main">
              <a:ext uri="{FF2B5EF4-FFF2-40B4-BE49-F238E27FC236}">
                <a16:creationId xmlns:a16="http://schemas.microsoft.com/office/drawing/2014/main" id="{9287D3DD-DCF8-44C2-A786-3A5FBB66A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3392" y="5340096"/>
            <a:ext cx="612435" cy="822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6426"/>
          </a:solidFill>
          <a:ln xmlns:a="http://schemas.openxmlformats.org/drawingml/2006/main" w="12700">
            <a:solidFill>
              <a:srgbClr val="7A6426"/>
            </a:solidFill>
            <a:prstDash val="solid"/>
          </a:ln>
        </p:spPr>
      </p:sp>
      <p:sp>
        <p:nvSpPr>
          <p:cNvPr id="38" name="Shape 35">
            <a:extLst xmlns:a="http://schemas.openxmlformats.org/drawingml/2006/main">
              <a:ext uri="{FF2B5EF4-FFF2-40B4-BE49-F238E27FC236}">
                <a16:creationId xmlns:a16="http://schemas.microsoft.com/office/drawing/2014/main" id="{2A675510-F974-4C46-B50F-62E3682C6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3886200"/>
            <a:ext cx="4983480" cy="178308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16140F"/>
          </a:solidFill>
          <a:ln xmlns:a="http://schemas.openxmlformats.org/drawingml/2006/main" w="10160">
            <a:solidFill>
              <a:srgbClr val="352E1B"/>
            </a:solidFill>
            <a:prstDash val="solid"/>
          </a:ln>
          <a:effectLst xmlns:a="http://schemas.openxmlformats.org/drawingml/2006/main">
            <a:outerShdw blurRad="25400" dist="50800" dir="2700000" sx="100000" sy="100000" kx="0" ky="0" algn="bl" rotWithShape="0">
              <a:srgbClr val="000000">
                <a:alpha val="22000"/>
              </a:srgbClr>
            </a:outerShdw>
          </a:effectLst>
        </p:spPr>
      </p:sp>
      <p:sp>
        <p:nvSpPr>
          <p:cNvPr id="39" name="Text 36">
            <a:extLst xmlns:a="http://schemas.openxmlformats.org/drawingml/2006/main">
              <a:ext uri="{FF2B5EF4-FFF2-40B4-BE49-F238E27FC236}">
                <a16:creationId xmlns:a16="http://schemas.microsoft.com/office/drawing/2014/main" id="{100D8B6F-F2BB-46A7-B59C-7C81D7AC0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4105656"/>
            <a:ext cx="29260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70">
                <a:solidFill>
                  <a:srgbClr val="D4AF37"/>
                </a:solidFill>
              </a:rPr>
              <a:t>VIZIER COACH</a:t>
            </a:r>
            <a:endParaRPr sz="1000"/>
          </a:p>
        </p:txBody>
      </p:sp>
      <p:sp>
        <p:nvSpPr>
          <p:cNvPr id="40" name="Text 37">
            <a:extLst xmlns:a="http://schemas.openxmlformats.org/drawingml/2006/main">
              <a:ext uri="{FF2B5EF4-FFF2-40B4-BE49-F238E27FC236}">
                <a16:creationId xmlns:a16="http://schemas.microsoft.com/office/drawing/2014/main" id="{5DA142BC-6331-429D-A371-9F124C1FE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664" y="4480560"/>
            <a:ext cx="4434840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20">
                <a:solidFill>
                  <a:srgbClr val="F7EBC4"/>
                </a:solidFill>
              </a:rPr>
              <a:t>Your 27.5% savings rate is healthy. Rent remains your largest category; preserve the current savings transfer and review food spending.</a:t>
            </a:r>
            <a:endParaRPr sz="1020"/>
          </a:p>
        </p:txBody>
      </p:sp>
      <p:sp>
        <p:nvSpPr>
          <p:cNvPr id="41" name="Shape 38">
            <a:extLst xmlns:a="http://schemas.openxmlformats.org/drawingml/2006/main">
              <a:ext uri="{FF2B5EF4-FFF2-40B4-BE49-F238E27FC236}">
                <a16:creationId xmlns:a16="http://schemas.microsoft.com/office/drawing/2014/main" id="{D342BBE4-A14C-4590-A00B-4A29636A8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664" y="5230368"/>
            <a:ext cx="1051560" cy="310896"/>
          </a:xfrm>
          <a:prstGeom xmlns:a="http://schemas.openxmlformats.org/drawingml/2006/main" prst="roundRect">
            <a:avLst>
              <a:gd name="adj" fmla="val 41176"/>
            </a:avLst>
          </a:prstGeom>
          <a:solidFill xmlns:a="http://schemas.openxmlformats.org/drawingml/2006/main">
            <a:srgbClr val="2A2416"/>
          </a:solidFill>
          <a:ln xmlns:a="http://schemas.openxmlformats.org/drawingml/2006/main" w="6350">
            <a:solidFill>
              <a:srgbClr val="5E4B1C"/>
            </a:solidFill>
            <a:prstDash val="solid"/>
          </a:ln>
        </p:spPr>
      </p:sp>
      <p:sp>
        <p:nvSpPr>
          <p:cNvPr id="42" name="Text 39">
            <a:extLst xmlns:a="http://schemas.openxmlformats.org/drawingml/2006/main">
              <a:ext uri="{FF2B5EF4-FFF2-40B4-BE49-F238E27FC236}">
                <a16:creationId xmlns:a16="http://schemas.microsoft.com/office/drawing/2014/main" id="{7B1E7FA5-934E-4B3D-91EF-378949E0D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8816" y="5312664"/>
            <a:ext cx="905256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00" b="1">
                <a:solidFill>
                  <a:srgbClr val="F4D675"/>
                </a:solidFill>
              </a:rPr>
              <a:t>AI-READY</a:t>
            </a:r>
            <a:endParaRPr sz="700"/>
          </a:p>
        </p:txBody>
      </p:sp>
      <p:sp>
        <p:nvSpPr>
          <p:cNvPr id="43" name="Shape 40">
            <a:extLst xmlns:a="http://schemas.openxmlformats.org/drawingml/2006/main">
              <a:ext uri="{FF2B5EF4-FFF2-40B4-BE49-F238E27FC236}">
                <a16:creationId xmlns:a16="http://schemas.microsoft.com/office/drawing/2014/main" id="{7A8A46C6-6850-40D8-A5A5-C111F2ECB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4384" y="5230368"/>
            <a:ext cx="1325880" cy="310896"/>
          </a:xfrm>
          <a:prstGeom xmlns:a="http://schemas.openxmlformats.org/drawingml/2006/main" prst="roundRect">
            <a:avLst>
              <a:gd name="adj" fmla="val 41176"/>
            </a:avLst>
          </a:prstGeom>
          <a:solidFill xmlns:a="http://schemas.openxmlformats.org/drawingml/2006/main">
            <a:srgbClr val="2A2416"/>
          </a:solidFill>
          <a:ln xmlns:a="http://schemas.openxmlformats.org/drawingml/2006/main" w="6350">
            <a:solidFill>
              <a:srgbClr val="5E4B1C"/>
            </a:solidFill>
            <a:prstDash val="solid"/>
          </a:ln>
        </p:spPr>
      </p:sp>
      <p:sp>
        <p:nvSpPr>
          <p:cNvPr id="44" name="Text 41">
            <a:extLst xmlns:a="http://schemas.openxmlformats.org/drawingml/2006/main">
              <a:ext uri="{FF2B5EF4-FFF2-40B4-BE49-F238E27FC236}">
                <a16:creationId xmlns:a16="http://schemas.microsoft.com/office/drawing/2014/main" id="{E106C316-8607-4DAE-B136-6A96821C6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7536" y="5312664"/>
            <a:ext cx="1179576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00" b="1">
                <a:solidFill>
                  <a:srgbClr val="F4D675"/>
                </a:solidFill>
              </a:rPr>
              <a:t>EXPLAINABLE</a:t>
            </a:r>
            <a:endParaRPr sz="700"/>
          </a:p>
        </p:txBody>
      </p:sp>
      <p:sp>
        <p:nvSpPr>
          <p:cNvPr id="45" name="Shape 42">
            <a:extLst xmlns:a="http://schemas.openxmlformats.org/drawingml/2006/main">
              <a:ext uri="{FF2B5EF4-FFF2-40B4-BE49-F238E27FC236}">
                <a16:creationId xmlns:a16="http://schemas.microsoft.com/office/drawing/2014/main" id="{B4E6285B-4150-45B8-8816-161C60EBA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7424" y="5230368"/>
            <a:ext cx="1481328" cy="310896"/>
          </a:xfrm>
          <a:prstGeom xmlns:a="http://schemas.openxmlformats.org/drawingml/2006/main" prst="roundRect">
            <a:avLst>
              <a:gd name="adj" fmla="val 41176"/>
            </a:avLst>
          </a:prstGeom>
          <a:solidFill xmlns:a="http://schemas.openxmlformats.org/drawingml/2006/main">
            <a:srgbClr val="2A2416"/>
          </a:solidFill>
          <a:ln xmlns:a="http://schemas.openxmlformats.org/drawingml/2006/main" w="6350">
            <a:solidFill>
              <a:srgbClr val="5E4B1C"/>
            </a:solidFill>
            <a:prstDash val="solid"/>
          </a:ln>
        </p:spPr>
      </p:sp>
      <p:sp>
        <p:nvSpPr>
          <p:cNvPr id="46" name="Text 43">
            <a:extLst xmlns:a="http://schemas.openxmlformats.org/drawingml/2006/main">
              <a:ext uri="{FF2B5EF4-FFF2-40B4-BE49-F238E27FC236}">
                <a16:creationId xmlns:a16="http://schemas.microsoft.com/office/drawing/2014/main" id="{062ADB94-4198-4643-9E62-6A4F7EB24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0576" y="5312664"/>
            <a:ext cx="1335024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00" b="1">
                <a:solidFill>
                  <a:srgbClr val="F4D675"/>
                </a:solidFill>
              </a:rPr>
              <a:t>DETERMINISTIC</a:t>
            </a:r>
            <a:endParaRPr sz="700"/>
          </a:p>
        </p:txBody>
      </p:sp>
      <p:sp>
        <p:nvSpPr>
          <p:cNvPr id="48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A7B5A5C8-4622-4A5D-9104-DB1088418AB8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704320" y="6510528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700">
                <a:solidFill>
                  <a:srgbClr val="8F8056"/>
                </a:solidFill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988288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5B9C3A9-091E-48A2-9A5B-91E969D9E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048"/>
            <a:ext cx="310896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 spc="200">
                <a:solidFill>
                  <a:srgbClr val="D4AF37"/>
                </a:solidFill>
              </a:rPr>
              <a:t>AI + TRUST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639A705-D259-4AF6-AF20-E2ED976CC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13232"/>
            <a:ext cx="1097280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700" b="1">
                <a:solidFill>
                  <a:srgbClr val="F7EBC4"/>
                </a:solidFill>
              </a:rPr>
              <a:t>The model explains. Python calculates.</a:t>
            </a:r>
            <a:endParaRPr sz="27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E3C1C073-882D-48F6-877A-C193F7326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298448"/>
            <a:ext cx="10515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B8AA84"/>
                </a:solidFill>
              </a:rPr>
              <a:t>A deliberate separation keeps financial numbers reproducible and inspectable.</a:t>
            </a:r>
            <a:endParaRPr sz="12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0F93CAF9-5193-4185-97E8-6129487C3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121408"/>
            <a:ext cx="2340864" cy="1572768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141311"/>
          </a:solidFill>
          <a:ln xmlns:a="http://schemas.openxmlformats.org/drawingml/2006/main" w="10160">
            <a:solidFill>
              <a:srgbClr val="352E1B"/>
            </a:solidFill>
            <a:prstDash val="solid"/>
          </a:ln>
          <a:effectLst xmlns:a="http://schemas.openxmlformats.org/drawingml/2006/main">
            <a:outerShdw blurRad="25400" dist="50800" dir="2700000" sx="100000" sy="100000" kx="0" ky="0" algn="bl" rotWithShape="0">
              <a:srgbClr val="000000">
                <a:alpha val="22000"/>
              </a:srgbClr>
            </a:outerShdw>
          </a:effectLst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1CFA2779-EF62-4417-B4AA-79237A0CD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450592"/>
            <a:ext cx="20116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D4AF37"/>
                </a:solidFill>
              </a:rPr>
              <a:t>USER DATA</a:t>
            </a:r>
            <a:endParaRPr sz="12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F6E5EAAB-5AAB-4541-A63A-FE80E5138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" y="2871216"/>
            <a:ext cx="187452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B8AA84"/>
                </a:solidFill>
              </a:rPr>
              <a:t>Income · expenses · goals · debts</a:t>
            </a:r>
            <a:endParaRPr sz="9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7F202A5B-71DF-44ED-841C-06F80255E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2898648"/>
            <a:ext cx="40233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D4AF37"/>
            </a:solidFill>
            <a:prstDash val="solid"/>
            <a:headEnd type="none"/>
            <a:tailEnd type="triangle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B3B322A3-DFC1-4639-B4F6-05F2F9BC3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1296" y="2121408"/>
            <a:ext cx="2340864" cy="1572768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141311"/>
          </a:solidFill>
          <a:ln xmlns:a="http://schemas.openxmlformats.org/drawingml/2006/main" w="10160">
            <a:solidFill>
              <a:srgbClr val="352E1B"/>
            </a:solidFill>
            <a:prstDash val="solid"/>
          </a:ln>
          <a:effectLst xmlns:a="http://schemas.openxmlformats.org/drawingml/2006/main">
            <a:outerShdw blurRad="25400" dist="50800" dir="2700000" sx="100000" sy="100000" kx="0" ky="0" algn="bl" rotWithShape="0">
              <a:srgbClr val="000000">
                <a:alpha val="22000"/>
              </a:srgbClr>
            </a:outerShdw>
          </a:effectLst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CE2255B8-8D9C-4053-8A90-AF23F51F2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5888" y="2450592"/>
            <a:ext cx="20116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D4AF37"/>
                </a:solidFill>
              </a:rPr>
              <a:t>FINANCE ENGINE</a:t>
            </a:r>
            <a:endParaRPr sz="12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90517046-89B9-4A1D-95AC-F0BB6F15D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9896" y="2871216"/>
            <a:ext cx="187452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B8AA84"/>
                </a:solidFill>
              </a:rPr>
              <a:t>Metrics · score · forecasts · alerts</a:t>
            </a:r>
            <a:endParaRPr sz="9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CF3C108B-4D7B-47F9-A1FD-8534F5CB1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0448" y="2898648"/>
            <a:ext cx="40233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D4AF37"/>
            </a:solidFill>
            <a:prstDash val="solid"/>
            <a:headEnd type="none"/>
            <a:tailEnd type="triangle"/>
          </a:ln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C58B02C3-BB40-4DFF-A549-449E0D681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4224" y="2121408"/>
            <a:ext cx="2340864" cy="1572768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141311"/>
          </a:solidFill>
          <a:ln xmlns:a="http://schemas.openxmlformats.org/drawingml/2006/main" w="10160">
            <a:solidFill>
              <a:srgbClr val="352E1B"/>
            </a:solidFill>
            <a:prstDash val="solid"/>
          </a:ln>
          <a:effectLst xmlns:a="http://schemas.openxmlformats.org/drawingml/2006/main">
            <a:outerShdw blurRad="25400" dist="50800" dir="2700000" sx="100000" sy="100000" kx="0" ky="0" algn="bl" rotWithShape="0">
              <a:srgbClr val="000000">
                <a:alpha val="22000"/>
              </a:srgbClr>
            </a:outerShdw>
          </a:effectLst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C4D3DAB6-6AB6-473B-92AB-6640384EF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8816" y="2450592"/>
            <a:ext cx="20116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D4AF37"/>
                </a:solidFill>
              </a:rPr>
              <a:t>CONTEXT BUILDER</a:t>
            </a:r>
            <a:endParaRPr sz="12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BC8BC999-2857-4579-A994-3A3CCB7B7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2824" y="2871216"/>
            <a:ext cx="187452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B8AA84"/>
                </a:solidFill>
              </a:rPr>
              <a:t>Only relevant calculated context</a:t>
            </a:r>
            <a:endParaRPr sz="90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57A178EC-5A5E-4B14-A032-97D5E5F06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3376" y="2898648"/>
            <a:ext cx="40233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D4AF37"/>
            </a:solidFill>
            <a:prstDash val="solid"/>
            <a:headEnd type="none"/>
            <a:tailEnd type="triangle"/>
          </a:ln>
        </p:spPr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404F0BD7-141C-4146-A019-71D14323F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7152" y="2121408"/>
            <a:ext cx="2340864" cy="1572768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251E0C"/>
          </a:solidFill>
          <a:ln xmlns:a="http://schemas.openxmlformats.org/drawingml/2006/main" w="10160">
            <a:solidFill>
              <a:srgbClr val="352E1B"/>
            </a:solidFill>
            <a:prstDash val="solid"/>
          </a:ln>
          <a:effectLst xmlns:a="http://schemas.openxmlformats.org/drawingml/2006/main">
            <a:outerShdw blurRad="25400" dist="50800" dir="2700000" sx="100000" sy="100000" kx="0" ky="0" algn="bl" rotWithShape="0">
              <a:srgbClr val="000000">
                <a:alpha val="22000"/>
              </a:srgbClr>
            </a:outerShdw>
          </a:effectLst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41F71235-1C17-4FA8-A302-D895B6C30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1744" y="2450592"/>
            <a:ext cx="20116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4D675"/>
                </a:solidFill>
              </a:rPr>
              <a:t>VIZIER AI</a:t>
            </a:r>
            <a:endParaRPr sz="12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267495CB-6E5F-4384-B9D6-FA32CBC64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5752" y="2871216"/>
            <a:ext cx="187452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B8AA84"/>
                </a:solidFill>
              </a:rPr>
              <a:t>Concise explanation + next steps</a:t>
            </a:r>
            <a:endParaRPr sz="90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6688521C-2CBF-4097-97E0-593FF619A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0"/>
            <a:ext cx="3154680" cy="123444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41311"/>
          </a:solidFill>
          <a:ln xmlns:a="http://schemas.openxmlformats.org/drawingml/2006/main" w="10160">
            <a:solidFill>
              <a:srgbClr val="352E1B"/>
            </a:solidFill>
            <a:prstDash val="solid"/>
          </a:ln>
          <a:effectLst xmlns:a="http://schemas.openxmlformats.org/drawingml/2006/main">
            <a:outerShdw blurRad="25400" dist="50800" dir="2700000" sx="100000" sy="100000" kx="0" ky="0" algn="bl" rotWithShape="0">
              <a:srgbClr val="000000">
                <a:alpha val="22000"/>
              </a:srgbClr>
            </a:outerShdw>
          </a:effectLst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42C2C1F7-CA77-4050-A915-91B3341A6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26280"/>
            <a:ext cx="29260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70">
                <a:solidFill>
                  <a:srgbClr val="D4AF37"/>
                </a:solidFill>
              </a:rPr>
              <a:t>WATSONX + GRANITE</a:t>
            </a:r>
            <a:endParaRPr sz="10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AB6F6A9E-BACE-43DA-8980-D2C3C75C2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46320"/>
            <a:ext cx="2697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B8AA84"/>
                </a:solidFill>
              </a:rPr>
              <a:t>IBM Cloud IAM · Granite model · API key via secret environment</a:t>
            </a:r>
            <a:endParaRPr sz="950"/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D22CA346-D22A-4C19-BB13-0CFFAB9E8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4297680"/>
            <a:ext cx="3154680" cy="123444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41311"/>
          </a:solidFill>
          <a:ln xmlns:a="http://schemas.openxmlformats.org/drawingml/2006/main" w="10160">
            <a:solidFill>
              <a:srgbClr val="352E1B"/>
            </a:solidFill>
            <a:prstDash val="solid"/>
          </a:ln>
          <a:effectLst xmlns:a="http://schemas.openxmlformats.org/drawingml/2006/main">
            <a:outerShdw blurRad="25400" dist="50800" dir="2700000" sx="100000" sy="100000" kx="0" ky="0" algn="bl" rotWithShape="0">
              <a:srgbClr val="000000">
                <a:alpha val="22000"/>
              </a:srgbClr>
            </a:outerShdw>
          </a:effectLst>
        </p:spPr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7A1E350C-F3FA-4405-8723-FB6AF1A12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4526280"/>
            <a:ext cx="29260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70">
                <a:solidFill>
                  <a:srgbClr val="D4AF37"/>
                </a:solidFill>
              </a:rPr>
              <a:t>OFFLINE MODE</a:t>
            </a:r>
            <a:endParaRPr sz="100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131EF2B1-66B4-47DD-A103-0990D7183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4846320"/>
            <a:ext cx="2697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B8AA84"/>
                </a:solidFill>
              </a:rPr>
              <a:t>Rule-based coaching remains functional with no API key or network connection.</a:t>
            </a:r>
            <a:endParaRPr sz="950"/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8E53D881-C48E-4BD3-96AD-A9FF24B81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4297680"/>
            <a:ext cx="3154680" cy="123444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41311"/>
          </a:solidFill>
          <a:ln xmlns:a="http://schemas.openxmlformats.org/drawingml/2006/main" w="10160">
            <a:solidFill>
              <a:srgbClr val="352E1B"/>
            </a:solidFill>
            <a:prstDash val="solid"/>
          </a:ln>
          <a:effectLst xmlns:a="http://schemas.openxmlformats.org/drawingml/2006/main">
            <a:outerShdw blurRad="25400" dist="50800" dir="2700000" sx="100000" sy="100000" kx="0" ky="0" algn="bl" rotWithShape="0">
              <a:srgbClr val="000000">
                <a:alpha val="22000"/>
              </a:srgbClr>
            </a:outerShdw>
          </a:effectLst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93109117-70C0-48BF-A7C7-D6CDBCD78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60" y="4526280"/>
            <a:ext cx="29260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70">
                <a:solidFill>
                  <a:srgbClr val="D4AF37"/>
                </a:solidFill>
              </a:rPr>
              <a:t>BOUNDARY</a:t>
            </a:r>
            <a:endParaRPr sz="100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82CB14A0-13A5-4D91-99BF-D0DA42339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60" y="4846320"/>
            <a:ext cx="2697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B8AA84"/>
                </a:solidFill>
              </a:rPr>
              <a:t>Raw CSV statements are parsed locally and are not sent to the </a:t>
            </a:r>
            <a:r>
              <a:rPr sz="950">
                <a:solidFill>
                  <a:srgbClr val="B8AA84"/>
                </a:solidFill>
              </a:rPr>
              <a:t>configured AI provider</a:t>
            </a:r>
            <a:r>
              <a:rPr sz="950">
                <a:solidFill>
                  <a:srgbClr val="B8AA84"/>
                </a:solidFill>
              </a:rPr>
              <a:t>.</a:t>
            </a:r>
            <a:endParaRPr sz="950"/>
          </a:p>
        </p:txBody>
      </p:sp>
      <p:sp>
        <p:nvSpPr>
          <p:cNvPr id="29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826BA63C-2A41-4DFD-961C-E0F490774753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704320" y="6510528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700">
                <a:solidFill>
                  <a:srgbClr val="8F8056"/>
                </a:solidFill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1275807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E5C2A14-2DD2-478B-9FF1-8DEF7AB8B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048"/>
            <a:ext cx="310896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 spc="200">
                <a:solidFill>
                  <a:srgbClr val="D4AF37"/>
                </a:solidFill>
              </a:rPr>
              <a:t>FINANCIAL INTELLIGENCE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6EDE7AA2-48F7-4256-9EAE-E1E83EC74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13232"/>
            <a:ext cx="1097280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700" b="1">
                <a:solidFill>
                  <a:srgbClr val="F7EBC4"/>
                </a:solidFill>
              </a:rPr>
              <a:t>From statement rows to an explainable health score</a:t>
            </a:r>
            <a:endParaRPr sz="27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F4B86996-29E9-4B6E-95A2-A7F51B0FC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1600200" cy="1078992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141311"/>
          </a:solidFill>
          <a:ln xmlns:a="http://schemas.openxmlformats.org/drawingml/2006/main" w="10160">
            <a:solidFill>
              <a:srgbClr val="352E1B"/>
            </a:solidFill>
            <a:prstDash val="solid"/>
          </a:ln>
          <a:effectLst xmlns:a="http://schemas.openxmlformats.org/drawingml/2006/main">
            <a:outerShdw blurRad="25400" dist="50800" dir="2700000" sx="100000" sy="100000" kx="0" ky="0" algn="bl" rotWithShape="0">
              <a:srgbClr val="000000">
                <a:alpha val="22000"/>
              </a:srgbClr>
            </a:outerShdw>
          </a:effectLst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C3576F94-6923-4FA6-B73F-C07425154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2084832"/>
            <a:ext cx="1380744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D4AF37"/>
                </a:solidFill>
              </a:rPr>
              <a:t>UPLOAD</a:t>
            </a:r>
            <a:endParaRPr sz="95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920B4402-8277-42DB-8CFF-92532821E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404872"/>
            <a:ext cx="13258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50">
                <a:solidFill>
                  <a:srgbClr val="B8AA84"/>
                </a:solidFill>
              </a:rPr>
              <a:t>CSV ≤ 5 MB</a:t>
            </a:r>
            <a:endParaRPr sz="75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2B07AD52-D453-4CF8-AAB2-B9FFEC778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1408" y="2368296"/>
            <a:ext cx="24688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D4AF37"/>
            </a:solidFill>
            <a:prstDash val="solid"/>
            <a:headEnd type="none"/>
            <a:tailEnd type="triangle"/>
          </a:ln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528D768E-55D0-4344-B647-AA5E2BD00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3160" y="1828800"/>
            <a:ext cx="1600200" cy="1078992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141311"/>
          </a:solidFill>
          <a:ln xmlns:a="http://schemas.openxmlformats.org/drawingml/2006/main" w="10160">
            <a:solidFill>
              <a:srgbClr val="352E1B"/>
            </a:solidFill>
            <a:prstDash val="solid"/>
          </a:ln>
          <a:effectLst xmlns:a="http://schemas.openxmlformats.org/drawingml/2006/main">
            <a:outerShdw blurRad="25400" dist="50800" dir="2700000" sx="100000" sy="100000" kx="0" ky="0" algn="bl" rotWithShape="0">
              <a:srgbClr val="000000">
                <a:alpha val="22000"/>
              </a:srgbClr>
            </a:outerShdw>
          </a:effectLst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1D5F0B4F-1CD3-4E62-8822-0CF32A08E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2888" y="2084832"/>
            <a:ext cx="1380744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D4AF37"/>
                </a:solidFill>
              </a:rPr>
              <a:t>MAP</a:t>
            </a:r>
            <a:endParaRPr sz="95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F0A37B76-FCF8-4670-8A9D-3FB6C92DF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0320" y="2404872"/>
            <a:ext cx="13258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50">
                <a:solidFill>
                  <a:srgbClr val="B8AA84"/>
                </a:solidFill>
              </a:rPr>
              <a:t>Auto-detect + override</a:t>
            </a:r>
            <a:endParaRPr sz="75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DBD5734E-7411-4CC1-9B49-32CFAB5D0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1648" y="2368296"/>
            <a:ext cx="24688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D4AF37"/>
            </a:solidFill>
            <a:prstDash val="solid"/>
            <a:headEnd type="none"/>
            <a:tailEnd type="triangle"/>
          </a:ln>
        </p:spPr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580D2EA9-3273-421A-BFEE-7D4AD09A6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828800"/>
            <a:ext cx="1600200" cy="1078992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141311"/>
          </a:solidFill>
          <a:ln xmlns:a="http://schemas.openxmlformats.org/drawingml/2006/main" w="10160">
            <a:solidFill>
              <a:srgbClr val="352E1B"/>
            </a:solidFill>
            <a:prstDash val="solid"/>
          </a:ln>
          <a:effectLst xmlns:a="http://schemas.openxmlformats.org/drawingml/2006/main">
            <a:outerShdw blurRad="25400" dist="50800" dir="2700000" sx="100000" sy="100000" kx="0" ky="0" algn="bl" rotWithShape="0">
              <a:srgbClr val="000000">
                <a:alpha val="22000"/>
              </a:srgbClr>
            </a:outerShdw>
          </a:effectLst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8E7B5462-D14E-41F2-AD40-E7B1E9178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3128" y="2084832"/>
            <a:ext cx="1380744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D4AF37"/>
                </a:solidFill>
              </a:rPr>
              <a:t>VALIDATE</a:t>
            </a:r>
            <a:endParaRPr sz="95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E6F93FA3-BD75-43BB-8A61-814C52695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2404872"/>
            <a:ext cx="13258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50">
                <a:solidFill>
                  <a:srgbClr val="B8AA84"/>
                </a:solidFill>
              </a:rPr>
              <a:t>Preview + rejected rows</a:t>
            </a:r>
            <a:endParaRPr sz="75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0985C4FC-C09A-4B0E-B5DD-00FF3364F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1888" y="2368296"/>
            <a:ext cx="24688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D4AF37"/>
            </a:solidFill>
            <a:prstDash val="solid"/>
            <a:headEnd type="none"/>
            <a:tailEnd type="triangle"/>
          </a:ln>
        </p:spPr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F29B2150-CE87-4EAA-B043-8D95E0DAD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828800"/>
            <a:ext cx="1600200" cy="1078992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141311"/>
          </a:solidFill>
          <a:ln xmlns:a="http://schemas.openxmlformats.org/drawingml/2006/main" w="10160">
            <a:solidFill>
              <a:srgbClr val="352E1B"/>
            </a:solidFill>
            <a:prstDash val="solid"/>
          </a:ln>
          <a:effectLst xmlns:a="http://schemas.openxmlformats.org/drawingml/2006/main">
            <a:outerShdw blurRad="25400" dist="50800" dir="2700000" sx="100000" sy="100000" kx="0" ky="0" algn="bl" rotWithShape="0">
              <a:srgbClr val="000000">
                <a:alpha val="22000"/>
              </a:srgbClr>
            </a:outerShdw>
          </a:effectLst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FE4BBEE0-F64C-4481-A66D-4B53550F6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3368" y="2084832"/>
            <a:ext cx="1380744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D4AF37"/>
                </a:solidFill>
              </a:rPr>
              <a:t>CATEGORIZE</a:t>
            </a:r>
            <a:endParaRPr sz="95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99B303BA-5F7C-4F4F-B738-FD240791A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404872"/>
            <a:ext cx="13258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50">
                <a:solidFill>
                  <a:srgbClr val="B8AA84"/>
                </a:solidFill>
              </a:rPr>
              <a:t>Deterministic rules</a:t>
            </a:r>
            <a:endParaRPr sz="75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497B295E-B658-4801-A10A-3C73ADC68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2128" y="2368296"/>
            <a:ext cx="24688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D4AF37"/>
            </a:solidFill>
            <a:prstDash val="solid"/>
            <a:headEnd type="none"/>
            <a:tailEnd type="triangle"/>
          </a:ln>
        </p:spPr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477464CB-5B80-43E6-B4DB-AEEB52C73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1828800"/>
            <a:ext cx="1600200" cy="1078992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141311"/>
          </a:solidFill>
          <a:ln xmlns:a="http://schemas.openxmlformats.org/drawingml/2006/main" w="10160">
            <a:solidFill>
              <a:srgbClr val="352E1B"/>
            </a:solidFill>
            <a:prstDash val="solid"/>
          </a:ln>
          <a:effectLst xmlns:a="http://schemas.openxmlformats.org/drawingml/2006/main">
            <a:outerShdw blurRad="25400" dist="50800" dir="2700000" sx="100000" sy="100000" kx="0" ky="0" algn="bl" rotWithShape="0">
              <a:srgbClr val="000000">
                <a:alpha val="22000"/>
              </a:srgbClr>
            </a:outerShdw>
          </a:effectLst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AA5A835C-90D7-489B-ABEC-41E64153A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608" y="2084832"/>
            <a:ext cx="1380744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D4AF37"/>
                </a:solidFill>
              </a:rPr>
              <a:t>DEDUPLICATE</a:t>
            </a:r>
            <a:endParaRPr sz="95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0A58663C-7B0E-4DF5-973A-0FC825116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2404872"/>
            <a:ext cx="13258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50">
                <a:solidFill>
                  <a:srgbClr val="B8AA84"/>
                </a:solidFill>
              </a:rPr>
              <a:t>Stable fingerprints</a:t>
            </a:r>
            <a:endParaRPr sz="750"/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CBDC66E7-347F-4B84-9298-3E9E80083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2368" y="2368296"/>
            <a:ext cx="24688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D4AF37"/>
            </a:solidFill>
            <a:prstDash val="solid"/>
            <a:headEnd type="none"/>
            <a:tailEnd type="triangle"/>
          </a:ln>
        </p:spPr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28B75BBC-85C9-425F-9A22-96BD373F0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4120" y="1828800"/>
            <a:ext cx="1600200" cy="1078992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251E0C"/>
          </a:solidFill>
          <a:ln xmlns:a="http://schemas.openxmlformats.org/drawingml/2006/main" w="10160">
            <a:solidFill>
              <a:srgbClr val="352E1B"/>
            </a:solidFill>
            <a:prstDash val="solid"/>
          </a:ln>
          <a:effectLst xmlns:a="http://schemas.openxmlformats.org/drawingml/2006/main">
            <a:outerShdw blurRad="25400" dist="50800" dir="2700000" sx="100000" sy="100000" kx="0" ky="0" algn="bl" rotWithShape="0">
              <a:srgbClr val="000000">
                <a:alpha val="22000"/>
              </a:srgbClr>
            </a:outerShdw>
          </a:effectLst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8F4E420A-0C56-46EC-B6F2-9CED625DC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3848" y="2084832"/>
            <a:ext cx="1380744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D4AF37"/>
                </a:solidFill>
              </a:rPr>
              <a:t>ANALYZE</a:t>
            </a:r>
            <a:endParaRPr sz="95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A3D8E9AD-9B62-4D51-B9B2-9402C0E3A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0" y="2404872"/>
            <a:ext cx="13258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50">
                <a:solidFill>
                  <a:srgbClr val="B8AA84"/>
                </a:solidFill>
              </a:rPr>
              <a:t>Score + trends</a:t>
            </a:r>
            <a:endParaRPr sz="750"/>
          </a:p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74AED27C-919C-45EE-8889-B94EA3ED3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401568"/>
            <a:ext cx="4937760" cy="20574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41311"/>
          </a:solidFill>
          <a:ln xmlns:a="http://schemas.openxmlformats.org/drawingml/2006/main" w="10160">
            <a:solidFill>
              <a:srgbClr val="352E1B"/>
            </a:solidFill>
            <a:prstDash val="solid"/>
          </a:ln>
          <a:effectLst xmlns:a="http://schemas.openxmlformats.org/drawingml/2006/main">
            <a:outerShdw blurRad="25400" dist="50800" dir="2700000" sx="100000" sy="100000" kx="0" ky="0" algn="bl" rotWithShape="0">
              <a:srgbClr val="000000">
                <a:alpha val="22000"/>
              </a:srgbClr>
            </a:outerShdw>
          </a:effectLst>
        </p:spPr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BC5BDEAE-976D-4E53-B9AA-ED1C0F46C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675888"/>
            <a:ext cx="29260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70">
                <a:solidFill>
                  <a:srgbClr val="D4AF37"/>
                </a:solidFill>
              </a:rPr>
              <a:t>HEALTH SCORE · 0–100</a:t>
            </a:r>
            <a:endParaRPr sz="100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DCA80D62-BCAF-4018-AAA2-B0756AE36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050792"/>
            <a:ext cx="123444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>
                <a:solidFill>
                  <a:srgbClr val="B8AA84"/>
                </a:solidFill>
              </a:rPr>
              <a:t>Savings rate</a:t>
            </a:r>
            <a:endParaRPr sz="750"/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D2BE7EEE-3FA3-4D4F-BB60-BD6B7721B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1992" y="4069080"/>
            <a:ext cx="2331720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2A1B"/>
          </a:solidFill>
          <a:ln xmlns:a="http://schemas.openxmlformats.org/drawingml/2006/main" w="12700">
            <a:solidFill>
              <a:srgbClr val="302A1B"/>
            </a:solidFill>
            <a:prstDash val="solid"/>
          </a:ln>
        </p:spPr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91D299D5-7138-4D0E-BA81-0AC5A37DD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1992" y="4069080"/>
            <a:ext cx="1998617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F37"/>
          </a:solidFill>
          <a:ln xmlns:a="http://schemas.openxmlformats.org/drawingml/2006/main" w="12700">
            <a:solidFill>
              <a:srgbClr val="D4AF37"/>
            </a:solidFill>
            <a:prstDash val="solid"/>
          </a:ln>
        </p:spPr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66B82FCE-116A-48D8-B695-5187FEE0F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4041648"/>
            <a:ext cx="594360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50">
                <a:solidFill>
                  <a:srgbClr val="F7EBC4"/>
                </a:solidFill>
              </a:rPr>
              <a:t>30/35</a:t>
            </a:r>
            <a:endParaRPr sz="750"/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CEC10284-B1B0-4612-ADB3-9A7C43A70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315968"/>
            <a:ext cx="123444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>
                <a:solidFill>
                  <a:srgbClr val="B8AA84"/>
                </a:solidFill>
              </a:rPr>
              <a:t>Cash flow</a:t>
            </a:r>
            <a:endParaRPr sz="750"/>
          </a:p>
        </p:txBody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8FF26CD2-6E4C-48A9-A84C-0FC454148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1992" y="4334256"/>
            <a:ext cx="2331720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2A1B"/>
          </a:solidFill>
          <a:ln xmlns:a="http://schemas.openxmlformats.org/drawingml/2006/main" w="12700">
            <a:solidFill>
              <a:srgbClr val="302A1B"/>
            </a:solidFill>
            <a:prstDash val="solid"/>
          </a:ln>
        </p:spPr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B24F8A48-D279-46C6-8B73-E17260E5B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1992" y="4334256"/>
            <a:ext cx="2331720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F37"/>
          </a:solidFill>
          <a:ln xmlns:a="http://schemas.openxmlformats.org/drawingml/2006/main" w="12700">
            <a:solidFill>
              <a:srgbClr val="D4AF37"/>
            </a:solidFill>
            <a:prstDash val="solid"/>
          </a:ln>
        </p:spPr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12FD23BC-BABA-4E79-A562-3E9AF734E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4306824"/>
            <a:ext cx="594360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50">
                <a:solidFill>
                  <a:srgbClr val="F7EBC4"/>
                </a:solidFill>
              </a:rPr>
              <a:t>20/20</a:t>
            </a:r>
            <a:endParaRPr sz="750"/>
          </a:p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60353AA3-8231-41D7-8150-FFFA31789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581144"/>
            <a:ext cx="123444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>
                <a:solidFill>
                  <a:srgbClr val="B8AA84"/>
                </a:solidFill>
              </a:rPr>
              <a:t>Budget adherence</a:t>
            </a:r>
            <a:endParaRPr sz="750"/>
          </a:p>
        </p:txBody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FEFD6FB3-3516-40CB-B40D-5BF85B5C0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1992" y="4599432"/>
            <a:ext cx="2331720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2A1B"/>
          </a:solidFill>
          <a:ln xmlns:a="http://schemas.openxmlformats.org/drawingml/2006/main" w="12700">
            <a:solidFill>
              <a:srgbClr val="302A1B"/>
            </a:solidFill>
            <a:prstDash val="solid"/>
          </a:ln>
        </p:spPr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29FA787E-502D-4C6E-B7AD-24E6981AB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1992" y="4599432"/>
            <a:ext cx="2020824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F37"/>
          </a:solidFill>
          <a:ln xmlns:a="http://schemas.openxmlformats.org/drawingml/2006/main" w="12700">
            <a:solidFill>
              <a:srgbClr val="D4AF37"/>
            </a:solidFill>
            <a:prstDash val="solid"/>
          </a:ln>
        </p:spPr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16DD0CE2-45D0-4518-A6B3-926D8F002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4572000"/>
            <a:ext cx="594360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50">
                <a:solidFill>
                  <a:srgbClr val="F7EBC4"/>
                </a:solidFill>
              </a:rPr>
              <a:t>13/15</a:t>
            </a:r>
            <a:endParaRPr sz="750"/>
          </a:p>
        </p:txBody>
      </p:sp>
      <p:sp>
        <p:nvSpPr>
          <p:cNvPr id="41" name="Text 39">
            <a:extLst xmlns:a="http://schemas.openxmlformats.org/drawingml/2006/main">
              <a:ext uri="{FF2B5EF4-FFF2-40B4-BE49-F238E27FC236}">
                <a16:creationId xmlns:a16="http://schemas.microsoft.com/office/drawing/2014/main" id="{39C4B633-0599-4F43-BF01-FE11F3783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846320"/>
            <a:ext cx="123444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>
                <a:solidFill>
                  <a:srgbClr val="B8AA84"/>
                </a:solidFill>
              </a:rPr>
              <a:t>Emergency fund</a:t>
            </a:r>
            <a:endParaRPr sz="750"/>
          </a:p>
        </p:txBody>
      </p:sp>
      <p:sp>
        <p:nvSpPr>
          <p:cNvPr id="42" name="Shape 40">
            <a:extLst xmlns:a="http://schemas.openxmlformats.org/drawingml/2006/main">
              <a:ext uri="{FF2B5EF4-FFF2-40B4-BE49-F238E27FC236}">
                <a16:creationId xmlns:a16="http://schemas.microsoft.com/office/drawing/2014/main" id="{C546D24E-6374-4F2C-974A-96AD489E5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1992" y="4864608"/>
            <a:ext cx="2331720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2A1B"/>
          </a:solidFill>
          <a:ln xmlns:a="http://schemas.openxmlformats.org/drawingml/2006/main" w="12700">
            <a:solidFill>
              <a:srgbClr val="302A1B"/>
            </a:solidFill>
            <a:prstDash val="solid"/>
          </a:ln>
        </p:spPr>
      </p:sp>
      <p:sp>
        <p:nvSpPr>
          <p:cNvPr id="43" name="Shape 41">
            <a:extLst xmlns:a="http://schemas.openxmlformats.org/drawingml/2006/main">
              <a:ext uri="{FF2B5EF4-FFF2-40B4-BE49-F238E27FC236}">
                <a16:creationId xmlns:a16="http://schemas.microsoft.com/office/drawing/2014/main" id="{3896A11E-A4E7-497B-8026-0B719566B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1992" y="4864608"/>
            <a:ext cx="1399032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F37"/>
          </a:solidFill>
          <a:ln xmlns:a="http://schemas.openxmlformats.org/drawingml/2006/main" w="12700">
            <a:solidFill>
              <a:srgbClr val="D4AF37"/>
            </a:solidFill>
            <a:prstDash val="solid"/>
          </a:ln>
        </p:spPr>
      </p:sp>
      <p:sp>
        <p:nvSpPr>
          <p:cNvPr id="44" name="Text 42">
            <a:extLst xmlns:a="http://schemas.openxmlformats.org/drawingml/2006/main">
              <a:ext uri="{FF2B5EF4-FFF2-40B4-BE49-F238E27FC236}">
                <a16:creationId xmlns:a16="http://schemas.microsoft.com/office/drawing/2014/main" id="{8025A17A-4E56-4715-818D-76A0168EC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4837176"/>
            <a:ext cx="594360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50">
                <a:solidFill>
                  <a:srgbClr val="F7EBC4"/>
                </a:solidFill>
              </a:rPr>
              <a:t>9/15</a:t>
            </a:r>
            <a:endParaRPr sz="750"/>
          </a:p>
        </p:txBody>
      </p:sp>
      <p:sp>
        <p:nvSpPr>
          <p:cNvPr id="45" name="Text 43">
            <a:extLst xmlns:a="http://schemas.openxmlformats.org/drawingml/2006/main">
              <a:ext uri="{FF2B5EF4-FFF2-40B4-BE49-F238E27FC236}">
                <a16:creationId xmlns:a16="http://schemas.microsoft.com/office/drawing/2014/main" id="{69988EC2-5257-4DFF-9EB7-C4089D3C9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5111496"/>
            <a:ext cx="123444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>
                <a:solidFill>
                  <a:srgbClr val="B8AA84"/>
                </a:solidFill>
              </a:rPr>
              <a:t>Debt load</a:t>
            </a:r>
            <a:endParaRPr sz="750"/>
          </a:p>
        </p:txBody>
      </p:sp>
      <p:sp>
        <p:nvSpPr>
          <p:cNvPr id="46" name="Shape 44">
            <a:extLst xmlns:a="http://schemas.openxmlformats.org/drawingml/2006/main">
              <a:ext uri="{FF2B5EF4-FFF2-40B4-BE49-F238E27FC236}">
                <a16:creationId xmlns:a16="http://schemas.microsoft.com/office/drawing/2014/main" id="{7BE56AED-ED0E-45F1-A8EF-DC5B33BE1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1992" y="5129784"/>
            <a:ext cx="2331720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2A1B"/>
          </a:solidFill>
          <a:ln xmlns:a="http://schemas.openxmlformats.org/drawingml/2006/main" w="12700">
            <a:solidFill>
              <a:srgbClr val="302A1B"/>
            </a:solidFill>
            <a:prstDash val="solid"/>
          </a:ln>
        </p:spPr>
      </p:sp>
      <p:sp>
        <p:nvSpPr>
          <p:cNvPr id="47" name="Shape 45">
            <a:extLst xmlns:a="http://schemas.openxmlformats.org/drawingml/2006/main">
              <a:ext uri="{FF2B5EF4-FFF2-40B4-BE49-F238E27FC236}">
                <a16:creationId xmlns:a16="http://schemas.microsoft.com/office/drawing/2014/main" id="{E6B0D74B-7096-4AC5-969E-1052875E5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1992" y="5129784"/>
            <a:ext cx="1554480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F37"/>
          </a:solidFill>
          <a:ln xmlns:a="http://schemas.openxmlformats.org/drawingml/2006/main" w="12700">
            <a:solidFill>
              <a:srgbClr val="D4AF37"/>
            </a:solidFill>
            <a:prstDash val="solid"/>
          </a:ln>
        </p:spPr>
      </p:sp>
      <p:sp>
        <p:nvSpPr>
          <p:cNvPr id="48" name="Text 46">
            <a:extLst xmlns:a="http://schemas.openxmlformats.org/drawingml/2006/main">
              <a:ext uri="{FF2B5EF4-FFF2-40B4-BE49-F238E27FC236}">
                <a16:creationId xmlns:a16="http://schemas.microsoft.com/office/drawing/2014/main" id="{2280BF86-57C6-4DF7-B4F6-85D0E31C0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5102352"/>
            <a:ext cx="594360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50">
                <a:solidFill>
                  <a:srgbClr val="F7EBC4"/>
                </a:solidFill>
              </a:rPr>
              <a:t>10/15</a:t>
            </a:r>
            <a:endParaRPr sz="750"/>
          </a:p>
        </p:txBody>
      </p:sp>
      <p:sp>
        <p:nvSpPr>
          <p:cNvPr id="49" name="Shape 47">
            <a:extLst xmlns:a="http://schemas.openxmlformats.org/drawingml/2006/main">
              <a:ext uri="{FF2B5EF4-FFF2-40B4-BE49-F238E27FC236}">
                <a16:creationId xmlns:a16="http://schemas.microsoft.com/office/drawing/2014/main" id="{A52508CB-5E53-4F21-B47B-8A184C594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3328" y="3401568"/>
            <a:ext cx="5394960" cy="20574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41311"/>
          </a:solidFill>
          <a:ln xmlns:a="http://schemas.openxmlformats.org/drawingml/2006/main" w="10160">
            <a:solidFill>
              <a:srgbClr val="352E1B"/>
            </a:solidFill>
            <a:prstDash val="solid"/>
          </a:ln>
          <a:effectLst xmlns:a="http://schemas.openxmlformats.org/drawingml/2006/main">
            <a:outerShdw blurRad="25400" dist="50800" dir="2700000" sx="100000" sy="100000" kx="0" ky="0" algn="bl" rotWithShape="0">
              <a:srgbClr val="000000">
                <a:alpha val="22000"/>
              </a:srgbClr>
            </a:outerShdw>
          </a:effectLst>
        </p:spPr>
      </p:sp>
      <p:sp>
        <p:nvSpPr>
          <p:cNvPr id="50" name="Text 48">
            <a:extLst xmlns:a="http://schemas.openxmlformats.org/drawingml/2006/main">
              <a:ext uri="{FF2B5EF4-FFF2-40B4-BE49-F238E27FC236}">
                <a16:creationId xmlns:a16="http://schemas.microsoft.com/office/drawing/2014/main" id="{EB08ECA6-80E7-4FC4-A099-039BE4208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3675888"/>
            <a:ext cx="29260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70">
                <a:solidFill>
                  <a:srgbClr val="D4AF37"/>
                </a:solidFill>
              </a:rPr>
              <a:t>OUTPUT</a:t>
            </a:r>
            <a:endParaRPr sz="1000"/>
          </a:p>
        </p:txBody>
      </p:sp>
      <p:sp>
        <p:nvSpPr>
          <p:cNvPr id="51" name="Text 49">
            <a:extLst xmlns:a="http://schemas.openxmlformats.org/drawingml/2006/main">
              <a:ext uri="{FF2B5EF4-FFF2-40B4-BE49-F238E27FC236}">
                <a16:creationId xmlns:a16="http://schemas.microsoft.com/office/drawing/2014/main" id="{45D16FA6-CEA1-460F-8ABD-FADE5D587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4023360"/>
            <a:ext cx="137160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200" b="1">
                <a:solidFill>
                  <a:srgbClr val="D4AF37"/>
                </a:solidFill>
              </a:rPr>
              <a:t>82</a:t>
            </a:r>
            <a:endParaRPr sz="4200"/>
          </a:p>
        </p:txBody>
      </p:sp>
      <p:sp>
        <p:nvSpPr>
          <p:cNvPr id="52" name="Text 50">
            <a:extLst xmlns:a="http://schemas.openxmlformats.org/drawingml/2006/main">
              <a:ext uri="{FF2B5EF4-FFF2-40B4-BE49-F238E27FC236}">
                <a16:creationId xmlns:a16="http://schemas.microsoft.com/office/drawing/2014/main" id="{6C0E004A-054F-48CE-AD9F-54197E857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4315968"/>
            <a:ext cx="182880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4D675"/>
                </a:solidFill>
              </a:rPr>
              <a:t>/ 100  STRONG</a:t>
            </a:r>
            <a:endParaRPr sz="1200"/>
          </a:p>
        </p:txBody>
      </p:sp>
      <p:sp>
        <p:nvSpPr>
          <p:cNvPr id="53" name="Text 51">
            <a:extLst xmlns:a="http://schemas.openxmlformats.org/drawingml/2006/main">
              <a:ext uri="{FF2B5EF4-FFF2-40B4-BE49-F238E27FC236}">
                <a16:creationId xmlns:a16="http://schemas.microsoft.com/office/drawing/2014/main" id="{6335AFF1-AD27-48DB-9A98-E77E333D0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4617720"/>
            <a:ext cx="342900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B8AA84"/>
                </a:solidFill>
              </a:rPr>
              <a:t>• Maintain the current savings rate</a:t>
            </a:r>
            <a:endParaRPr sz="950"/>
          </a:p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B8AA84"/>
                </a:solidFill>
              </a:rPr>
              <a:t>• Grow emergency cover toward three months</a:t>
            </a:r>
            <a:endParaRPr sz="950"/>
          </a:p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B8AA84"/>
                </a:solidFill>
              </a:rPr>
              <a:t>• Review categories approaching 80% of budget</a:t>
            </a:r>
            <a:endParaRPr sz="950"/>
          </a:p>
        </p:txBody>
      </p:sp>
      <p:sp>
        <p:nvSpPr>
          <p:cNvPr id="54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1A4166E8-16DC-457B-A5AC-C54BB602464D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704320" y="6510528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700">
                <a:solidFill>
                  <a:srgbClr val="8F8056"/>
                </a:solidFill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7353072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AAB63BF-8647-43D1-8B01-E58305A69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048"/>
            <a:ext cx="310896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 spc="200">
                <a:solidFill>
                  <a:srgbClr val="D4AF37"/>
                </a:solidFill>
              </a:rPr>
              <a:t>INVESTMENTS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F1C7A3F-17BF-4869-A2DC-CF0F3C1A0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13232"/>
            <a:ext cx="1097280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700" b="1">
                <a:solidFill>
                  <a:srgbClr val="F7EBC4"/>
                </a:solidFill>
              </a:rPr>
              <a:t>A clearer view of the portfolio</a:t>
            </a:r>
            <a:endParaRPr sz="27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5A07BED4-099D-4154-8176-720A371EE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298448"/>
            <a:ext cx="10515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B8AA84"/>
                </a:solidFill>
              </a:rPr>
              <a:t>Persistent holdings, </a:t>
            </a:r>
            <a:r>
              <a:rPr sz="1200">
                <a:solidFill>
                  <a:srgbClr val="B8AA84"/>
                </a:solidFill>
              </a:rPr>
              <a:t>Ethiopian asset references and portfolio-level analytics</a:t>
            </a:r>
            <a:r>
              <a:rPr sz="1200">
                <a:solidFill>
                  <a:srgbClr val="B8AA84"/>
                </a:solidFill>
              </a:rPr>
              <a:t>.</a:t>
            </a:r>
            <a:endParaRPr sz="12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EC58001D-D0DB-4B04-A2B8-ECC6E4391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737360"/>
            <a:ext cx="2423160" cy="96012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41311"/>
          </a:solidFill>
          <a:ln xmlns:a="http://schemas.openxmlformats.org/drawingml/2006/main" w="10160">
            <a:solidFill>
              <a:srgbClr val="352E1B"/>
            </a:solidFill>
            <a:prstDash val="solid"/>
          </a:ln>
          <a:effectLst xmlns:a="http://schemas.openxmlformats.org/drawingml/2006/main">
            <a:outerShdw blurRad="25400" dist="50800" dir="2700000" sx="100000" sy="100000" kx="0" ky="0" algn="bl" rotWithShape="0">
              <a:srgbClr val="000000">
                <a:alpha val="22000"/>
              </a:srgbClr>
            </a:outerShdw>
          </a:effectLst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291E9D73-CC7B-473E-902A-028FA5543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883664"/>
            <a:ext cx="2093976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 b="1" spc="50">
                <a:solidFill>
                  <a:srgbClr val="B8AA84"/>
                </a:solidFill>
              </a:rPr>
              <a:t>PORTFOLIO VALUE</a:t>
            </a:r>
            <a:endParaRPr sz="8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ACC4DB9-7662-485C-998F-72B6F809B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21408"/>
            <a:ext cx="209397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4737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900" b="1">
                <a:solidFill>
                  <a:srgbClr val="D4AF37"/>
                </a:solidFill>
              </a:rPr>
              <a:t>ETB</a:t>
            </a:r>
            <a:r>
              <a:rPr sz="1900" b="1">
                <a:solidFill>
                  <a:srgbClr val="D4AF37"/>
                </a:solidFill>
              </a:rPr>
              <a:t> 324,500</a:t>
            </a:r>
            <a:endParaRPr sz="19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2FF87EEF-9F90-4093-8032-849EA469C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3552" y="1737360"/>
            <a:ext cx="2423160" cy="96012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41311"/>
          </a:solidFill>
          <a:ln xmlns:a="http://schemas.openxmlformats.org/drawingml/2006/main" w="10160">
            <a:solidFill>
              <a:srgbClr val="352E1B"/>
            </a:solidFill>
            <a:prstDash val="solid"/>
          </a:ln>
          <a:effectLst xmlns:a="http://schemas.openxmlformats.org/drawingml/2006/main">
            <a:outerShdw blurRad="25400" dist="50800" dir="2700000" sx="100000" sy="100000" kx="0" ky="0" algn="bl" rotWithShape="0">
              <a:srgbClr val="000000">
                <a:alpha val="22000"/>
              </a:srgbClr>
            </a:outerShdw>
          </a:effectLst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2269A402-8ED0-4910-9BD0-4A3D7C2FB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144" y="1883664"/>
            <a:ext cx="2093976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 b="1" spc="50">
                <a:solidFill>
                  <a:srgbClr val="B8AA84"/>
                </a:solidFill>
              </a:rPr>
              <a:t>TOTAL RETURN</a:t>
            </a:r>
            <a:endParaRPr sz="8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987A86F9-C15B-4027-9F6E-29FE5474B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144" y="2121408"/>
            <a:ext cx="209397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900" b="1">
                <a:solidFill>
                  <a:srgbClr val="55C994"/>
                </a:solidFill>
              </a:rPr>
              <a:t>+18.4%</a:t>
            </a:r>
            <a:endParaRPr sz="190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A293F8E3-4D06-4C44-90DC-8DAF18A58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8736" y="1737360"/>
            <a:ext cx="2423160" cy="96012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41311"/>
          </a:solidFill>
          <a:ln xmlns:a="http://schemas.openxmlformats.org/drawingml/2006/main" w="10160">
            <a:solidFill>
              <a:srgbClr val="352E1B"/>
            </a:solidFill>
            <a:prstDash val="solid"/>
          </a:ln>
          <a:effectLst xmlns:a="http://schemas.openxmlformats.org/drawingml/2006/main">
            <a:outerShdw blurRad="25400" dist="50800" dir="2700000" sx="100000" sy="100000" kx="0" ky="0" algn="bl" rotWithShape="0">
              <a:srgbClr val="000000">
                <a:alpha val="22000"/>
              </a:srgbClr>
            </a:outerShdw>
          </a:effectLst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E1307153-D7AE-44C6-9ABD-A2253D6D3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3328" y="1883664"/>
            <a:ext cx="2093976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 b="1" spc="50">
                <a:solidFill>
                  <a:srgbClr val="B8AA84"/>
                </a:solidFill>
              </a:rPr>
              <a:t>DIVIDENDS</a:t>
            </a:r>
            <a:endParaRPr sz="8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9EC2E46A-125F-4F3E-891A-F3330CC9D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3328" y="2121408"/>
            <a:ext cx="209397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4737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900" b="1">
                <a:solidFill>
                  <a:srgbClr val="D4AF37"/>
                </a:solidFill>
              </a:rPr>
              <a:t>ETB</a:t>
            </a:r>
            <a:r>
              <a:rPr sz="1900" b="1">
                <a:solidFill>
                  <a:srgbClr val="D4AF37"/>
                </a:solidFill>
              </a:rPr>
              <a:t> 12,300</a:t>
            </a:r>
            <a:endParaRPr sz="190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34E02C34-4E4D-459D-A1E7-D6F9B508B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1737360"/>
            <a:ext cx="2423160" cy="96012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41311"/>
          </a:solidFill>
          <a:ln xmlns:a="http://schemas.openxmlformats.org/drawingml/2006/main" w="10160">
            <a:solidFill>
              <a:srgbClr val="352E1B"/>
            </a:solidFill>
            <a:prstDash val="solid"/>
          </a:ln>
          <a:effectLst xmlns:a="http://schemas.openxmlformats.org/drawingml/2006/main">
            <a:outerShdw blurRad="25400" dist="50800" dir="2700000" sx="100000" sy="100000" kx="0" ky="0" algn="bl" rotWithShape="0">
              <a:srgbClr val="000000">
                <a:alpha val="22000"/>
              </a:srgbClr>
            </a:outerShdw>
          </a:effectLst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62ECAA3D-534D-4F2C-AAAD-C3F025899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8512" y="1883664"/>
            <a:ext cx="2093976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 b="1" spc="50">
                <a:solidFill>
                  <a:srgbClr val="B8AA84"/>
                </a:solidFill>
              </a:rPr>
              <a:t>LARGEST POSITION</a:t>
            </a:r>
            <a:endParaRPr sz="8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2AE8025F-699B-4D28-B386-E00B359B7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8512" y="2121408"/>
            <a:ext cx="209397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900" b="1">
                <a:solidFill>
                  <a:srgbClr val="F4D675"/>
                </a:solidFill>
              </a:rPr>
              <a:t>41.2%</a:t>
            </a:r>
            <a:endParaRPr sz="190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3E0509CE-2323-4616-A277-26D9EDE62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017520"/>
            <a:ext cx="5760720" cy="2542032"/>
          </a:xfrm>
          <a:prstGeom xmlns:a="http://schemas.openxmlformats.org/drawingml/2006/main" prst="roundRect">
            <a:avLst>
              <a:gd name="adj" fmla="val 4317"/>
            </a:avLst>
          </a:prstGeom>
          <a:solidFill xmlns:a="http://schemas.openxmlformats.org/drawingml/2006/main">
            <a:srgbClr val="141311"/>
          </a:solidFill>
          <a:ln xmlns:a="http://schemas.openxmlformats.org/drawingml/2006/main" w="10160">
            <a:solidFill>
              <a:srgbClr val="352E1B"/>
            </a:solidFill>
            <a:prstDash val="solid"/>
          </a:ln>
          <a:effectLst xmlns:a="http://schemas.openxmlformats.org/drawingml/2006/main">
            <a:outerShdw blurRad="25400" dist="50800" dir="2700000" sx="100000" sy="100000" kx="0" ky="0" algn="bl" rotWithShape="0">
              <a:srgbClr val="000000">
                <a:alpha val="22000"/>
              </a:srgbClr>
            </a:outerShdw>
          </a:effectLst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7011FA5F-FDE6-48AD-B496-2AA272BF2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3291840"/>
            <a:ext cx="29260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70">
                <a:solidFill>
                  <a:srgbClr val="D4AF37"/>
                </a:solidFill>
              </a:rPr>
              <a:t>HOLDINGS</a:t>
            </a:r>
            <a:endParaRPr sz="10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A049DB3B-7FAA-4508-B2C9-C3970B2A5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75888"/>
            <a:ext cx="9144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 b="1">
                <a:solidFill>
                  <a:srgbClr val="D4AF37"/>
                </a:solidFill>
              </a:rPr>
              <a:t>Asset</a:t>
            </a:r>
            <a:endParaRPr sz="75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38A573E1-83AA-4E29-BD76-5FCC15C7F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960" y="3675888"/>
            <a:ext cx="9144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 b="1">
                <a:solidFill>
                  <a:srgbClr val="D4AF37"/>
                </a:solidFill>
              </a:rPr>
              <a:t>Shares</a:t>
            </a:r>
            <a:endParaRPr sz="75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3EE3933E-58E6-462B-8653-5935DAD38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3675888"/>
            <a:ext cx="12344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 b="1">
                <a:solidFill>
                  <a:srgbClr val="D4AF37"/>
                </a:solidFill>
              </a:rPr>
              <a:t>Public price</a:t>
            </a:r>
            <a:endParaRPr sz="75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7C8E519D-4A61-4DCB-8D8F-92715A6E5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675888"/>
            <a:ext cx="9144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 b="1">
                <a:solidFill>
                  <a:srgbClr val="D4AF37"/>
                </a:solidFill>
              </a:rPr>
              <a:t>Value</a:t>
            </a:r>
            <a:endParaRPr sz="75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B4998042-20FC-46DF-9E17-C4DEDB2B0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1808" y="3675888"/>
            <a:ext cx="82296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 b="1">
                <a:solidFill>
                  <a:srgbClr val="D4AF37"/>
                </a:solidFill>
              </a:rPr>
              <a:t>Return</a:t>
            </a:r>
            <a:endParaRPr sz="75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F553D6CE-43E5-40A4-B690-1EAC5E562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50792"/>
            <a:ext cx="9144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F7EBC4"/>
                </a:solidFill>
              </a:rPr>
              <a:t>ETH-TBILL</a:t>
            </a:r>
            <a:endParaRPr sz="85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8605B6A8-9997-4928-9D63-CCAE5B17E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960" y="4050792"/>
            <a:ext cx="9144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F7EBC4"/>
                </a:solidFill>
              </a:rPr>
              <a:t>100</a:t>
            </a:r>
            <a:endParaRPr sz="85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3C78ACDE-2F6E-4B62-A47E-011DD4FCF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4050792"/>
            <a:ext cx="12344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F7EBC4"/>
                </a:solidFill>
              </a:rPr>
              <a:t>ETB</a:t>
            </a:r>
            <a:r>
              <a:rPr sz="850">
                <a:solidFill>
                  <a:srgbClr val="F7EBC4"/>
                </a:solidFill>
              </a:rPr>
              <a:t> 37.20</a:t>
            </a:r>
            <a:endParaRPr sz="85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BF941310-FB00-4983-86D8-EB98AB77C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050792"/>
            <a:ext cx="9144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F7EBC4"/>
                </a:solidFill>
              </a:rPr>
              <a:t>ETB</a:t>
            </a:r>
            <a:r>
              <a:rPr sz="850">
                <a:solidFill>
                  <a:srgbClr val="F7EBC4"/>
                </a:solidFill>
              </a:rPr>
              <a:t> 3,720</a:t>
            </a:r>
            <a:endParaRPr sz="85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EA5A76FE-9329-4D86-83FB-828EEA411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1808" y="4050792"/>
            <a:ext cx="82296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55C994"/>
                </a:solidFill>
              </a:rPr>
              <a:t>+86.0%</a:t>
            </a:r>
            <a:endParaRPr sz="85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F2B26DD1-DDE3-4295-9929-0EB0F0188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61688"/>
            <a:ext cx="9144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F7EBC4"/>
                </a:solidFill>
              </a:rPr>
              <a:t>ETH-BOND</a:t>
            </a:r>
            <a:endParaRPr sz="850"/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CAEECF03-DE2D-4BC5-8916-CCE9AE1B8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960" y="4361688"/>
            <a:ext cx="9144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F7EBC4"/>
                </a:solidFill>
              </a:rPr>
              <a:t>500</a:t>
            </a:r>
            <a:endParaRPr sz="850"/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68421915-BEC7-4FD0-8F82-AAB0FA473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4361688"/>
            <a:ext cx="12344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F7EBC4"/>
                </a:solidFill>
              </a:rPr>
              <a:t>ETB</a:t>
            </a:r>
            <a:r>
              <a:rPr sz="850">
                <a:solidFill>
                  <a:srgbClr val="F7EBC4"/>
                </a:solidFill>
              </a:rPr>
              <a:t> 93.75</a:t>
            </a:r>
            <a:endParaRPr sz="850"/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2C7936C1-1B3D-40BE-B963-FCD9764FF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361688"/>
            <a:ext cx="9144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F7EBC4"/>
                </a:solidFill>
              </a:rPr>
              <a:t>ETB</a:t>
            </a:r>
            <a:r>
              <a:rPr sz="850">
                <a:solidFill>
                  <a:srgbClr val="F7EBC4"/>
                </a:solidFill>
              </a:rPr>
              <a:t> 46,875</a:t>
            </a:r>
            <a:endParaRPr sz="850"/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54BCFB95-28EF-487F-B596-86A313EE7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1808" y="4361688"/>
            <a:ext cx="82296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55C994"/>
                </a:solidFill>
              </a:rPr>
              <a:t>+25.0%</a:t>
            </a:r>
            <a:endParaRPr sz="850"/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C8191FD3-6B89-4F3F-B891-ADDA61C23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72584"/>
            <a:ext cx="9144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F7EBC4"/>
                </a:solidFill>
              </a:rPr>
              <a:t>GOLD-GRAM</a:t>
            </a:r>
            <a:endParaRPr sz="850"/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E777D0C2-91CD-4F09-B3A4-950CFEC2A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960" y="4672584"/>
            <a:ext cx="9144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F7EBC4"/>
                </a:solidFill>
              </a:rPr>
              <a:t>300</a:t>
            </a:r>
            <a:endParaRPr sz="850"/>
          </a:p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560E6525-496D-4BF1-81DB-E35160CD7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4672584"/>
            <a:ext cx="12344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F7EBC4"/>
                </a:solidFill>
              </a:rPr>
              <a:t>ETB</a:t>
            </a:r>
            <a:r>
              <a:rPr sz="850">
                <a:solidFill>
                  <a:srgbClr val="F7EBC4"/>
                </a:solidFill>
              </a:rPr>
              <a:t> 93.50</a:t>
            </a:r>
            <a:endParaRPr sz="850"/>
          </a:p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0F12468C-03DF-4404-A139-96EB88186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672584"/>
            <a:ext cx="9144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F7EBC4"/>
                </a:solidFill>
              </a:rPr>
              <a:t>ETB</a:t>
            </a:r>
            <a:r>
              <a:rPr sz="850">
                <a:solidFill>
                  <a:srgbClr val="F7EBC4"/>
                </a:solidFill>
              </a:rPr>
              <a:t> 28,050</a:t>
            </a:r>
            <a:endParaRPr sz="850"/>
          </a:p>
        </p:txBody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9BD24469-1778-4C8E-BDEE-1C5760331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1808" y="4672584"/>
            <a:ext cx="82296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55C994"/>
                </a:solidFill>
              </a:rPr>
              <a:t>+19.9%</a:t>
            </a:r>
            <a:endParaRPr sz="850"/>
          </a:p>
        </p:txBody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B364016F-2835-4ACA-AD83-7002E243A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83480"/>
            <a:ext cx="9144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F7EBC4"/>
                </a:solidFill>
              </a:rPr>
              <a:t>USD-SAVINGS</a:t>
            </a:r>
            <a:endParaRPr sz="850"/>
          </a:p>
        </p:txBody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8ACFF366-00EB-4FD1-B290-385A25DF3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960" y="4983480"/>
            <a:ext cx="9144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F7EBC4"/>
                </a:solidFill>
              </a:rPr>
              <a:t>80</a:t>
            </a:r>
            <a:endParaRPr sz="850"/>
          </a:p>
        </p:txBody>
      </p:sp>
      <p:sp>
        <p:nvSpPr>
          <p:cNvPr id="41" name="Text 39">
            <a:extLst xmlns:a="http://schemas.openxmlformats.org/drawingml/2006/main">
              <a:ext uri="{FF2B5EF4-FFF2-40B4-BE49-F238E27FC236}">
                <a16:creationId xmlns:a16="http://schemas.microsoft.com/office/drawing/2014/main" id="{BBC84C59-9B44-419D-BB8E-28605DDE8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4983480"/>
            <a:ext cx="12344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F7EBC4"/>
                </a:solidFill>
              </a:rPr>
              <a:t>ETB</a:t>
            </a:r>
            <a:r>
              <a:rPr sz="850">
                <a:solidFill>
                  <a:srgbClr val="F7EBC4"/>
                </a:solidFill>
              </a:rPr>
              <a:t> 280.00</a:t>
            </a:r>
            <a:endParaRPr sz="850"/>
          </a:p>
        </p:txBody>
      </p:sp>
      <p:sp>
        <p:nvSpPr>
          <p:cNvPr id="42" name="Text 40">
            <a:extLst xmlns:a="http://schemas.openxmlformats.org/drawingml/2006/main">
              <a:ext uri="{FF2B5EF4-FFF2-40B4-BE49-F238E27FC236}">
                <a16:creationId xmlns:a16="http://schemas.microsoft.com/office/drawing/2014/main" id="{B2A9F248-DF56-4A79-B312-13EE5E3F9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983480"/>
            <a:ext cx="9144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F7EBC4"/>
                </a:solidFill>
              </a:rPr>
              <a:t>ETB</a:t>
            </a:r>
            <a:r>
              <a:rPr sz="850">
                <a:solidFill>
                  <a:srgbClr val="F7EBC4"/>
                </a:solidFill>
              </a:rPr>
              <a:t> 22,400</a:t>
            </a:r>
            <a:endParaRPr sz="850"/>
          </a:p>
        </p:txBody>
      </p:sp>
      <p:sp>
        <p:nvSpPr>
          <p:cNvPr id="43" name="Text 41">
            <a:extLst xmlns:a="http://schemas.openxmlformats.org/drawingml/2006/main">
              <a:ext uri="{FF2B5EF4-FFF2-40B4-BE49-F238E27FC236}">
                <a16:creationId xmlns:a16="http://schemas.microsoft.com/office/drawing/2014/main" id="{B9BEBADF-8702-4404-8210-73156B422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1808" y="4983480"/>
            <a:ext cx="82296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55C994"/>
                </a:solidFill>
              </a:rPr>
              <a:t>+33.3%</a:t>
            </a:r>
            <a:endParaRPr sz="850"/>
          </a:p>
        </p:txBody>
      </p:sp>
      <p:sp>
        <p:nvSpPr>
          <p:cNvPr id="44" name="Shape 42">
            <a:extLst xmlns:a="http://schemas.openxmlformats.org/drawingml/2006/main">
              <a:ext uri="{FF2B5EF4-FFF2-40B4-BE49-F238E27FC236}">
                <a16:creationId xmlns:a16="http://schemas.microsoft.com/office/drawing/2014/main" id="{AAC3E2E5-7666-4744-8690-F044CC578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3408" y="3017520"/>
            <a:ext cx="4846320" cy="2542032"/>
          </a:xfrm>
          <a:prstGeom xmlns:a="http://schemas.openxmlformats.org/drawingml/2006/main" prst="roundRect">
            <a:avLst>
              <a:gd name="adj" fmla="val 4317"/>
            </a:avLst>
          </a:prstGeom>
          <a:solidFill xmlns:a="http://schemas.openxmlformats.org/drawingml/2006/main">
            <a:srgbClr val="141311"/>
          </a:solidFill>
          <a:ln xmlns:a="http://schemas.openxmlformats.org/drawingml/2006/main" w="10160">
            <a:solidFill>
              <a:srgbClr val="352E1B"/>
            </a:solidFill>
            <a:prstDash val="solid"/>
          </a:ln>
          <a:effectLst xmlns:a="http://schemas.openxmlformats.org/drawingml/2006/main">
            <a:outerShdw blurRad="25400" dist="50800" dir="2700000" sx="100000" sy="100000" kx="0" ky="0" algn="bl" rotWithShape="0">
              <a:srgbClr val="000000">
                <a:alpha val="22000"/>
              </a:srgbClr>
            </a:outerShdw>
          </a:effectLst>
        </p:spPr>
      </p:sp>
      <p:sp>
        <p:nvSpPr>
          <p:cNvPr id="45" name="Text 43">
            <a:extLst xmlns:a="http://schemas.openxmlformats.org/drawingml/2006/main">
              <a:ext uri="{FF2B5EF4-FFF2-40B4-BE49-F238E27FC236}">
                <a16:creationId xmlns:a16="http://schemas.microsoft.com/office/drawing/2014/main" id="{BC3382AA-A922-498C-9398-35B588736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1152" y="3291840"/>
            <a:ext cx="29260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70">
                <a:solidFill>
                  <a:srgbClr val="D4AF37"/>
                </a:solidFill>
              </a:rPr>
              <a:t>ALLOCATION</a:t>
            </a:r>
            <a:endParaRPr sz="1000"/>
          </a:p>
        </p:txBody>
      </p:sp>
      <p:sp>
        <p:nvSpPr>
          <p:cNvPr id="46" name="Text 44">
            <a:extLst xmlns:a="http://schemas.openxmlformats.org/drawingml/2006/main">
              <a:ext uri="{FF2B5EF4-FFF2-40B4-BE49-F238E27FC236}">
                <a16:creationId xmlns:a16="http://schemas.microsoft.com/office/drawing/2014/main" id="{933B89CB-961F-4531-A0E6-AD3BCB0FA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7728" y="3794760"/>
            <a:ext cx="6858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B8AA84"/>
                </a:solidFill>
              </a:rPr>
              <a:t>ETH-TBILL</a:t>
            </a:r>
            <a:endParaRPr sz="800"/>
          </a:p>
        </p:txBody>
      </p:sp>
      <p:sp>
        <p:nvSpPr>
          <p:cNvPr id="47" name="Shape 45">
            <a:extLst xmlns:a="http://schemas.openxmlformats.org/drawingml/2006/main">
              <a:ext uri="{FF2B5EF4-FFF2-40B4-BE49-F238E27FC236}">
                <a16:creationId xmlns:a16="http://schemas.microsoft.com/office/drawing/2014/main" id="{0E786A94-1B60-499D-BA4A-7EAEBEB04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6680" y="3813048"/>
            <a:ext cx="2469693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F37"/>
          </a:solidFill>
          <a:ln xmlns:a="http://schemas.openxmlformats.org/drawingml/2006/main" w="12700">
            <a:solidFill>
              <a:srgbClr val="D4AF37"/>
            </a:solidFill>
            <a:prstDash val="solid"/>
          </a:ln>
        </p:spPr>
      </p:sp>
      <p:sp>
        <p:nvSpPr>
          <p:cNvPr id="48" name="Text 46">
            <a:extLst xmlns:a="http://schemas.openxmlformats.org/drawingml/2006/main">
              <a:ext uri="{FF2B5EF4-FFF2-40B4-BE49-F238E27FC236}">
                <a16:creationId xmlns:a16="http://schemas.microsoft.com/office/drawing/2014/main" id="{E1909909-9574-47A9-8F32-2081E5AA6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1320" y="3794760"/>
            <a:ext cx="5029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F7EBC4"/>
                </a:solidFill>
              </a:rPr>
              <a:t>41.2%</a:t>
            </a:r>
            <a:endParaRPr sz="800"/>
          </a:p>
        </p:txBody>
      </p:sp>
      <p:sp>
        <p:nvSpPr>
          <p:cNvPr id="49" name="Text 47">
            <a:extLst xmlns:a="http://schemas.openxmlformats.org/drawingml/2006/main">
              <a:ext uri="{FF2B5EF4-FFF2-40B4-BE49-F238E27FC236}">
                <a16:creationId xmlns:a16="http://schemas.microsoft.com/office/drawing/2014/main" id="{C98A653D-5323-4E12-86FC-BA53FC6F9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7728" y="4178808"/>
            <a:ext cx="6858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B8AA84"/>
                </a:solidFill>
              </a:rPr>
              <a:t>ETH-BOND</a:t>
            </a:r>
            <a:endParaRPr sz="800"/>
          </a:p>
        </p:txBody>
      </p:sp>
      <p:sp>
        <p:nvSpPr>
          <p:cNvPr id="50" name="Shape 48">
            <a:extLst xmlns:a="http://schemas.openxmlformats.org/drawingml/2006/main">
              <a:ext uri="{FF2B5EF4-FFF2-40B4-BE49-F238E27FC236}">
                <a16:creationId xmlns:a16="http://schemas.microsoft.com/office/drawing/2014/main" id="{D230E799-8F64-4CEC-9B3A-07712A1EE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6680" y="4197096"/>
            <a:ext cx="1726387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7E25"/>
          </a:solidFill>
          <a:ln xmlns:a="http://schemas.openxmlformats.org/drawingml/2006/main" w="12700">
            <a:solidFill>
              <a:srgbClr val="9F7E25"/>
            </a:solidFill>
            <a:prstDash val="solid"/>
          </a:ln>
        </p:spPr>
      </p:sp>
      <p:sp>
        <p:nvSpPr>
          <p:cNvPr id="51" name="Text 49">
            <a:extLst xmlns:a="http://schemas.openxmlformats.org/drawingml/2006/main">
              <a:ext uri="{FF2B5EF4-FFF2-40B4-BE49-F238E27FC236}">
                <a16:creationId xmlns:a16="http://schemas.microsoft.com/office/drawing/2014/main" id="{CA2911C6-7296-4CC2-AA56-FAE3BB7F4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1320" y="4178808"/>
            <a:ext cx="5029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F7EBC4"/>
                </a:solidFill>
              </a:rPr>
              <a:t>28.8%</a:t>
            </a:r>
            <a:endParaRPr sz="800"/>
          </a:p>
        </p:txBody>
      </p:sp>
      <p:sp>
        <p:nvSpPr>
          <p:cNvPr id="52" name="Text 50">
            <a:extLst xmlns:a="http://schemas.openxmlformats.org/drawingml/2006/main">
              <a:ext uri="{FF2B5EF4-FFF2-40B4-BE49-F238E27FC236}">
                <a16:creationId xmlns:a16="http://schemas.microsoft.com/office/drawing/2014/main" id="{9B5671D5-55F6-4A3D-A863-B8867D1FE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7728" y="4562856"/>
            <a:ext cx="6858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B8AA84"/>
                </a:solidFill>
              </a:rPr>
              <a:t>GOLD-GRAM</a:t>
            </a:r>
            <a:endParaRPr sz="800"/>
          </a:p>
        </p:txBody>
      </p:sp>
      <p:sp>
        <p:nvSpPr>
          <p:cNvPr id="53" name="Shape 51">
            <a:extLst xmlns:a="http://schemas.openxmlformats.org/drawingml/2006/main">
              <a:ext uri="{FF2B5EF4-FFF2-40B4-BE49-F238E27FC236}">
                <a16:creationId xmlns:a16="http://schemas.microsoft.com/office/drawing/2014/main" id="{1F75D50B-C9AA-4029-913E-579AD7FB2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6680" y="4581144"/>
            <a:ext cx="1078992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675"/>
          </a:solidFill>
          <a:ln xmlns:a="http://schemas.openxmlformats.org/drawingml/2006/main" w="12700">
            <a:solidFill>
              <a:srgbClr val="F4D675"/>
            </a:solidFill>
            <a:prstDash val="solid"/>
          </a:ln>
        </p:spPr>
      </p:sp>
      <p:sp>
        <p:nvSpPr>
          <p:cNvPr id="54" name="Text 52">
            <a:extLst xmlns:a="http://schemas.openxmlformats.org/drawingml/2006/main">
              <a:ext uri="{FF2B5EF4-FFF2-40B4-BE49-F238E27FC236}">
                <a16:creationId xmlns:a16="http://schemas.microsoft.com/office/drawing/2014/main" id="{EA2DCBF2-444A-4D01-995F-04B47F93B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1320" y="4562856"/>
            <a:ext cx="5029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F7EBC4"/>
                </a:solidFill>
              </a:rPr>
              <a:t>18%</a:t>
            </a:r>
            <a:endParaRPr sz="800"/>
          </a:p>
        </p:txBody>
      </p:sp>
      <p:sp>
        <p:nvSpPr>
          <p:cNvPr id="55" name="Text 53">
            <a:extLst xmlns:a="http://schemas.openxmlformats.org/drawingml/2006/main">
              <a:ext uri="{FF2B5EF4-FFF2-40B4-BE49-F238E27FC236}">
                <a16:creationId xmlns:a16="http://schemas.microsoft.com/office/drawing/2014/main" id="{44189348-A4A6-4607-9876-A464D49E0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7728" y="4946904"/>
            <a:ext cx="6858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B8AA84"/>
                </a:solidFill>
              </a:rPr>
              <a:t>USD-SAVINGS</a:t>
            </a:r>
            <a:endParaRPr sz="800"/>
          </a:p>
        </p:txBody>
      </p:sp>
      <p:sp>
        <p:nvSpPr>
          <p:cNvPr id="56" name="Shape 54">
            <a:extLst xmlns:a="http://schemas.openxmlformats.org/drawingml/2006/main">
              <a:ext uri="{FF2B5EF4-FFF2-40B4-BE49-F238E27FC236}">
                <a16:creationId xmlns:a16="http://schemas.microsoft.com/office/drawing/2014/main" id="{95878993-EB34-4C01-A60E-436632462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6680" y="4965192"/>
            <a:ext cx="719328" cy="118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5320"/>
          </a:solidFill>
          <a:ln xmlns:a="http://schemas.openxmlformats.org/drawingml/2006/main" w="12700">
            <a:solidFill>
              <a:srgbClr val="6B5320"/>
            </a:solidFill>
            <a:prstDash val="solid"/>
          </a:ln>
        </p:spPr>
      </p:sp>
      <p:sp>
        <p:nvSpPr>
          <p:cNvPr id="57" name="Text 55">
            <a:extLst xmlns:a="http://schemas.openxmlformats.org/drawingml/2006/main">
              <a:ext uri="{FF2B5EF4-FFF2-40B4-BE49-F238E27FC236}">
                <a16:creationId xmlns:a16="http://schemas.microsoft.com/office/drawing/2014/main" id="{3528E22F-5BEE-4C78-9A58-9B061E441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1320" y="4946904"/>
            <a:ext cx="5029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F7EBC4"/>
                </a:solidFill>
              </a:rPr>
              <a:t>12%</a:t>
            </a:r>
            <a:endParaRPr sz="800"/>
          </a:p>
        </p:txBody>
      </p:sp>
      <p:sp>
        <p:nvSpPr>
          <p:cNvPr id="58" name="Text 56">
            <a:extLst xmlns:a="http://schemas.openxmlformats.org/drawingml/2006/main">
              <a:ext uri="{FF2B5EF4-FFF2-40B4-BE49-F238E27FC236}">
                <a16:creationId xmlns:a16="http://schemas.microsoft.com/office/drawing/2014/main" id="{39D55CCC-5961-41F8-804A-3CF7865D9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5266944"/>
            <a:ext cx="40690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>
                <a:solidFill>
                  <a:srgbClr val="B8AA84"/>
                </a:solidFill>
              </a:rPr>
              <a:t>Illustrative references · optional configured feed · 5-minute cache · labelled fallback</a:t>
            </a:r>
            <a:endParaRPr sz="750"/>
          </a:p>
        </p:txBody>
      </p:sp>
      <p:sp>
        <p:nvSpPr>
          <p:cNvPr id="59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5EB4C562-E11C-4E45-A16D-CCFDC5EA8725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704320" y="6510528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700">
                <a:solidFill>
                  <a:srgbClr val="8F8056"/>
                </a:solidFill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504014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5446214-447C-4DA1-85B3-5A897D0DE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048"/>
            <a:ext cx="310896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 spc="200">
                <a:solidFill>
                  <a:srgbClr val="D4AF37"/>
                </a:solidFill>
              </a:rPr>
              <a:t>ARCHITECTURE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5ED4CDC-67DA-4384-876D-387AB0A21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13232"/>
            <a:ext cx="1097280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700" b="1">
                <a:solidFill>
                  <a:srgbClr val="F7EBC4"/>
                </a:solidFill>
              </a:rPr>
              <a:t>Simple enough to move fast. Structured enough to grow.</a:t>
            </a:r>
            <a:endParaRPr sz="27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ACC1DD0A-E864-433D-94B5-FBD101378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91640"/>
            <a:ext cx="9829800" cy="749808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D4AF37"/>
          </a:solidFill>
          <a:ln xmlns:a="http://schemas.openxmlformats.org/drawingml/2006/main" w="10160">
            <a:solidFill>
              <a:srgbClr val="D4AF37"/>
            </a:solidFill>
            <a:prstDash val="solid"/>
          </a:ln>
          <a:effectLst xmlns:a="http://schemas.openxmlformats.org/drawingml/2006/main">
            <a:outerShdw blurRad="25400" dist="50800" dir="2700000" sx="100000" sy="100000" kx="0" ky="0" algn="bl" rotWithShape="0">
              <a:srgbClr val="000000">
                <a:alpha val="22000"/>
              </a:srgbClr>
            </a:outerShdw>
          </a:effectLst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E4BE805C-5DB1-4A76-959C-E4DF9F0E7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4168" y="1865376"/>
            <a:ext cx="14630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100">
                <a:solidFill>
                  <a:srgbClr val="090909"/>
                </a:solidFill>
              </a:rPr>
              <a:t>EXPERIENCE</a:t>
            </a:r>
            <a:endParaRPr sz="11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F103E187-DA50-4DE0-B981-7277D7FFB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1856232"/>
            <a:ext cx="7744968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201A0C"/>
                </a:solidFill>
              </a:rPr>
              <a:t>NiceGUI · responsive dashboard · light/dark themes</a:t>
            </a:r>
            <a:endParaRPr sz="10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BEEF910B-6D0D-404D-A72B-5B76E4FB8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7048" y="2715768"/>
            <a:ext cx="9061704" cy="749808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8D6E18"/>
          </a:solidFill>
          <a:ln xmlns:a="http://schemas.openxmlformats.org/drawingml/2006/main" w="10160">
            <a:solidFill>
              <a:srgbClr val="8D6E18"/>
            </a:solidFill>
            <a:prstDash val="solid"/>
          </a:ln>
          <a:effectLst xmlns:a="http://schemas.openxmlformats.org/drawingml/2006/main">
            <a:outerShdw blurRad="25400" dist="50800" dir="2700000" sx="100000" sy="100000" kx="0" ky="0" algn="bl" rotWithShape="0">
              <a:srgbClr val="000000">
                <a:alpha val="22000"/>
              </a:srgbClr>
            </a:outerShdw>
          </a:effectLst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E2A150FF-2BAB-4792-8CC4-382A6E928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8216" y="2889504"/>
            <a:ext cx="14630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100">
                <a:solidFill>
                  <a:srgbClr val="090909"/>
                </a:solidFill>
              </a:rPr>
              <a:t>APPLICATION</a:t>
            </a:r>
            <a:endParaRPr sz="11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D206A9A-90B0-4794-AC56-190341860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5848" y="2880360"/>
            <a:ext cx="6976872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201A0C"/>
                </a:solidFill>
              </a:rPr>
              <a:t>Finance · budgeting · health · AI · imports · investments</a:t>
            </a:r>
            <a:endParaRPr sz="100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9F497964-5C7C-4760-8E46-90D3EC20F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1096" y="3739896"/>
            <a:ext cx="8293608" cy="749808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6C531E"/>
          </a:solidFill>
          <a:ln xmlns:a="http://schemas.openxmlformats.org/drawingml/2006/main" w="10160">
            <a:solidFill>
              <a:srgbClr val="6C531E"/>
            </a:solidFill>
            <a:prstDash val="solid"/>
          </a:ln>
          <a:effectLst xmlns:a="http://schemas.openxmlformats.org/drawingml/2006/main">
            <a:outerShdw blurRad="25400" dist="50800" dir="2700000" sx="100000" sy="100000" kx="0" ky="0" algn="bl" rotWithShape="0">
              <a:srgbClr val="000000">
                <a:alpha val="22000"/>
              </a:srgbClr>
            </a:outerShdw>
          </a:effectLst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2271FE6C-777D-462F-AD2D-6E0F046AD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2264" y="3913632"/>
            <a:ext cx="14630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100">
                <a:solidFill>
                  <a:srgbClr val="F4D675"/>
                </a:solidFill>
              </a:rPr>
              <a:t>DATA</a:t>
            </a:r>
            <a:endParaRPr sz="11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F7E843D3-51EF-4CC3-90E9-D0F6A2E8B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9896" y="3904488"/>
            <a:ext cx="620877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F7EBC4"/>
                </a:solidFill>
              </a:rPr>
              <a:t>SQLite · user-scoped records · transactions · holdings · goals</a:t>
            </a:r>
            <a:endParaRPr sz="100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ACE0F3BF-26E8-4ED3-8701-07D5F651C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144" y="4764024"/>
            <a:ext cx="7525512" cy="749808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493A18"/>
          </a:solidFill>
          <a:ln xmlns:a="http://schemas.openxmlformats.org/drawingml/2006/main" w="10160">
            <a:solidFill>
              <a:srgbClr val="493A18"/>
            </a:solidFill>
            <a:prstDash val="solid"/>
          </a:ln>
          <a:effectLst xmlns:a="http://schemas.openxmlformats.org/drawingml/2006/main">
            <a:outerShdw blurRad="25400" dist="50800" dir="2700000" sx="100000" sy="100000" kx="0" ky="0" algn="bl" rotWithShape="0">
              <a:srgbClr val="000000">
                <a:alpha val="22000"/>
              </a:srgbClr>
            </a:outerShdw>
          </a:effectLst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7455B0B3-AC85-488E-A45C-EEFC51B7A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6312" y="4937760"/>
            <a:ext cx="14630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100">
                <a:solidFill>
                  <a:srgbClr val="F4D675"/>
                </a:solidFill>
              </a:rPr>
              <a:t>EXTERNAL</a:t>
            </a:r>
            <a:endParaRPr sz="11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B98B785C-C09D-42B8-9165-F1553D767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3944" y="4928616"/>
            <a:ext cx="54406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F7EBC4"/>
                </a:solidFill>
              </a:rPr>
              <a:t>IBM watsonx.ai + Granite · optional configured quote feed</a:t>
            </a:r>
            <a:endParaRPr sz="100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E26ECFC0-3D11-45F5-8C76-B22443960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088" y="5806440"/>
            <a:ext cx="6217920" cy="310896"/>
          </a:xfrm>
          <a:prstGeom xmlns:a="http://schemas.openxmlformats.org/drawingml/2006/main" prst="roundRect">
            <a:avLst>
              <a:gd name="adj" fmla="val 41176"/>
            </a:avLst>
          </a:prstGeom>
          <a:solidFill xmlns:a="http://schemas.openxmlformats.org/drawingml/2006/main">
            <a:srgbClr val="2A2416"/>
          </a:solidFill>
          <a:ln xmlns:a="http://schemas.openxmlformats.org/drawingml/2006/main" w="6350">
            <a:solidFill>
              <a:srgbClr val="5E4B1C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8411F12F-51EA-4C38-ABAA-A4ECB0106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240" y="5888736"/>
            <a:ext cx="6071616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00" b="1">
                <a:solidFill>
                  <a:srgbClr val="F4D675"/>
                </a:solidFill>
              </a:rPr>
              <a:t>PYTHON · NICEGUI · SQLITE · IBM WATSONX.AI · GRANITE</a:t>
            </a:r>
            <a:endParaRPr sz="7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18904E81-5F72-4D4D-ABDE-D81951B1015D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704320" y="6510528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700">
                <a:solidFill>
                  <a:srgbClr val="8F8056"/>
                </a:solidFill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0084219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15906952-545F-4716-BBEE-1EDB782A1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048"/>
            <a:ext cx="310896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 spc="200">
                <a:solidFill>
                  <a:srgbClr val="D4AF37"/>
                </a:solidFill>
              </a:rPr>
              <a:t>TRUST &amp; SAFETY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40651C7-BB67-4E1B-BA26-3E659D6B7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13232"/>
            <a:ext cx="1097280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700" b="1">
                <a:solidFill>
                  <a:srgbClr val="F7EBC4"/>
                </a:solidFill>
              </a:rPr>
              <a:t>Privacy-conscious by design</a:t>
            </a:r>
            <a:endParaRPr sz="27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69FBD73-7C55-4147-9DEB-7225B4831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298448"/>
            <a:ext cx="10515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B8AA84"/>
                </a:solidFill>
              </a:rPr>
              <a:t>Current safeguards are suitable for a strong prototype; production hardening is the next major phase.</a:t>
            </a:r>
            <a:endParaRPr sz="12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66C76301-24BF-4ED7-877C-6B53DB45D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755648"/>
            <a:ext cx="5303520" cy="713232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41311"/>
          </a:solidFill>
          <a:ln xmlns:a="http://schemas.openxmlformats.org/drawingml/2006/main" w="10160">
            <a:solidFill>
              <a:srgbClr val="352E1B"/>
            </a:solidFill>
            <a:prstDash val="solid"/>
          </a:ln>
          <a:effectLst xmlns:a="http://schemas.openxmlformats.org/drawingml/2006/main">
            <a:outerShdw blurRad="25400" dist="50800" dir="2700000" sx="100000" sy="100000" kx="0" ky="0" algn="bl" rotWithShape="0">
              <a:srgbClr val="000000">
                <a:alpha val="22000"/>
              </a:srgbClr>
            </a:outerShdw>
          </a:effectLst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B6C3C07-7681-496B-9969-E83986F49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1920240"/>
            <a:ext cx="3200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55C994"/>
                </a:solidFill>
              </a:rPr>
              <a:t>✓</a:t>
            </a:r>
            <a:endParaRPr sz="15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68026EAC-D780-4188-A0E9-AA1E98ABB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1901952"/>
            <a:ext cx="12344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D4AF37"/>
                </a:solidFill>
              </a:rPr>
              <a:t>LOCAL FIRST</a:t>
            </a:r>
            <a:endParaRPr sz="10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94B06665-E32E-4FE4-90E1-A10625C07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8608" y="1892808"/>
            <a:ext cx="30632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80">
                <a:solidFill>
                  <a:srgbClr val="B8AA84"/>
                </a:solidFill>
              </a:rPr>
              <a:t>Statements are parsed locally; raw files are not sent to AI.</a:t>
            </a:r>
            <a:endParaRPr sz="88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175463C5-9449-4CDD-A1F7-279E9DCA8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688336"/>
            <a:ext cx="5303520" cy="713232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41311"/>
          </a:solidFill>
          <a:ln xmlns:a="http://schemas.openxmlformats.org/drawingml/2006/main" w="10160">
            <a:solidFill>
              <a:srgbClr val="352E1B"/>
            </a:solidFill>
            <a:prstDash val="solid"/>
          </a:ln>
          <a:effectLst xmlns:a="http://schemas.openxmlformats.org/drawingml/2006/main">
            <a:outerShdw blurRad="25400" dist="50800" dir="2700000" sx="100000" sy="100000" kx="0" ky="0" algn="bl" rotWithShape="0">
              <a:srgbClr val="000000">
                <a:alpha val="22000"/>
              </a:srgbClr>
            </a:outerShdw>
          </a:effectLst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AA21D6EA-031C-4C09-9810-14C254A5B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2852928"/>
            <a:ext cx="3200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55C994"/>
                </a:solidFill>
              </a:rPr>
              <a:t>✓</a:t>
            </a:r>
            <a:endParaRPr sz="15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D6B36F3B-0873-452F-8BDB-A4E3CF2D5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2834640"/>
            <a:ext cx="12344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D4AF37"/>
                </a:solidFill>
              </a:rPr>
              <a:t>PASSWORDS</a:t>
            </a:r>
            <a:endParaRPr sz="10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8E88C213-717F-42CF-BBED-84C04813B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8608" y="2825496"/>
            <a:ext cx="30632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80">
                <a:solidFill>
                  <a:srgbClr val="B8AA84"/>
                </a:solidFill>
              </a:rPr>
              <a:t>Salted PBKDF2 hashes; plain-text passwords are never stored.</a:t>
            </a:r>
            <a:endParaRPr sz="88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DABCF281-C5B6-4385-8516-43D5FFD2B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621024"/>
            <a:ext cx="5303520" cy="713232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41311"/>
          </a:solidFill>
          <a:ln xmlns:a="http://schemas.openxmlformats.org/drawingml/2006/main" w="10160">
            <a:solidFill>
              <a:srgbClr val="352E1B"/>
            </a:solidFill>
            <a:prstDash val="solid"/>
          </a:ln>
          <a:effectLst xmlns:a="http://schemas.openxmlformats.org/drawingml/2006/main">
            <a:outerShdw blurRad="25400" dist="50800" dir="2700000" sx="100000" sy="100000" kx="0" ky="0" algn="bl" rotWithShape="0">
              <a:srgbClr val="000000">
                <a:alpha val="22000"/>
              </a:srgbClr>
            </a:outerShdw>
          </a:effectLst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CD57C134-A40E-41B1-8BCC-AAE868B47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3785616"/>
            <a:ext cx="3200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55C994"/>
                </a:solidFill>
              </a:rPr>
              <a:t>✓</a:t>
            </a:r>
            <a:endParaRPr sz="15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CD3DA79B-F812-4124-B7DA-CB038FC1D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3767328"/>
            <a:ext cx="12344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D4AF37"/>
                </a:solidFill>
              </a:rPr>
              <a:t>USER SCOPE</a:t>
            </a:r>
            <a:endParaRPr sz="10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7DDBD565-8E2B-4ED2-A194-7A9CA3EB1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8608" y="3758184"/>
            <a:ext cx="30632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80">
                <a:solidFill>
                  <a:srgbClr val="B8AA84"/>
                </a:solidFill>
              </a:rPr>
              <a:t>Accounts, goals, debts, holdings and transactions are user-linked.</a:t>
            </a:r>
            <a:endParaRPr sz="88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B13CC468-7A31-4B08-AE02-04EA4266E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553712"/>
            <a:ext cx="5303520" cy="713232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41311"/>
          </a:solidFill>
          <a:ln xmlns:a="http://schemas.openxmlformats.org/drawingml/2006/main" w="10160">
            <a:solidFill>
              <a:srgbClr val="352E1B"/>
            </a:solidFill>
            <a:prstDash val="solid"/>
          </a:ln>
          <a:effectLst xmlns:a="http://schemas.openxmlformats.org/drawingml/2006/main">
            <a:outerShdw blurRad="25400" dist="50800" dir="2700000" sx="100000" sy="100000" kx="0" ky="0" algn="bl" rotWithShape="0">
              <a:srgbClr val="000000">
                <a:alpha val="22000"/>
              </a:srgbClr>
            </a:outerShdw>
          </a:effectLst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84711B57-4A7D-4DF9-B898-926AF0072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4718304"/>
            <a:ext cx="3200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55C994"/>
                </a:solidFill>
              </a:rPr>
              <a:t>✓</a:t>
            </a:r>
            <a:endParaRPr sz="15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3574CE8A-51C8-4E67-964C-AF6CC9738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4700016"/>
            <a:ext cx="12344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D4AF37"/>
                </a:solidFill>
              </a:rPr>
              <a:t>CONTROL</a:t>
            </a:r>
            <a:endParaRPr sz="10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0A5B2560-1153-427B-89D1-C2AF2ABED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8608" y="4690872"/>
            <a:ext cx="30632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80">
                <a:solidFill>
                  <a:srgbClr val="B8AA84"/>
                </a:solidFill>
              </a:rPr>
              <a:t>CSV export and cascading account deletion are built in.</a:t>
            </a:r>
            <a:endParaRPr sz="880"/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771B0910-4605-463C-AE8E-4BEEFA1DD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755648"/>
            <a:ext cx="5102352" cy="3794760"/>
          </a:xfrm>
          <a:prstGeom xmlns:a="http://schemas.openxmlformats.org/drawingml/2006/main" prst="roundRect">
            <a:avLst>
              <a:gd name="adj" fmla="val 2892"/>
            </a:avLst>
          </a:prstGeom>
          <a:solidFill xmlns:a="http://schemas.openxmlformats.org/drawingml/2006/main">
            <a:srgbClr val="17120E"/>
          </a:solidFill>
          <a:ln xmlns:a="http://schemas.openxmlformats.org/drawingml/2006/main" w="10160">
            <a:solidFill>
              <a:srgbClr val="6A3A28"/>
            </a:solidFill>
            <a:prstDash val="solid"/>
          </a:ln>
          <a:effectLst xmlns:a="http://schemas.openxmlformats.org/drawingml/2006/main">
            <a:outerShdw blurRad="25400" dist="50800" dir="2700000" sx="100000" sy="100000" kx="0" ky="0" algn="bl" rotWithShape="0">
              <a:srgbClr val="000000">
                <a:alpha val="22000"/>
              </a:srgbClr>
            </a:outerShdw>
          </a:effectLst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88D99929-234D-43BE-8B82-B2CE36880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6832" y="2011680"/>
            <a:ext cx="29260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70">
                <a:solidFill>
                  <a:srgbClr val="D4AF37"/>
                </a:solidFill>
              </a:rPr>
              <a:t>PRODUCTION CHECKLIST</a:t>
            </a:r>
            <a:endParaRPr sz="1000"/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05D6A2D3-44FB-4E4D-BBE4-A83A6FD44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2487168"/>
            <a:ext cx="164592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20E"/>
          </a:solidFill>
          <a:ln xmlns:a="http://schemas.openxmlformats.org/drawingml/2006/main" w="12700">
            <a:solidFill>
              <a:srgbClr val="D4AF37"/>
            </a:solidFill>
            <a:prstDash val="solid"/>
          </a:ln>
        </p:spPr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23A40931-BCFB-4BC7-8528-9E9A4C9C6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7728" y="2459736"/>
            <a:ext cx="38862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F7EBC4"/>
                </a:solidFill>
              </a:rPr>
              <a:t>HTTPS and secure deployment</a:t>
            </a:r>
            <a:endParaRPr sz="1000"/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20F706D4-64F9-40F8-8C8A-79D9CC087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2926080"/>
            <a:ext cx="164592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20E"/>
          </a:solidFill>
          <a:ln xmlns:a="http://schemas.openxmlformats.org/drawingml/2006/main" w="12700">
            <a:solidFill>
              <a:srgbClr val="D4AF37"/>
            </a:solidFill>
            <a:prstDash val="solid"/>
          </a:ln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12BE6904-72C1-4D2D-8548-33AED3A23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7728" y="2898648"/>
            <a:ext cx="38862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F7EBC4"/>
                </a:solidFill>
              </a:rPr>
              <a:t>Strong rotated session secrets</a:t>
            </a:r>
            <a:endParaRPr sz="1000"/>
          </a:p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CB4F092B-010A-4B95-BC55-BFFDE5C63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3364992"/>
            <a:ext cx="164592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20E"/>
          </a:solidFill>
          <a:ln xmlns:a="http://schemas.openxmlformats.org/drawingml/2006/main" w="12700">
            <a:solidFill>
              <a:srgbClr val="D4AF37"/>
            </a:solidFill>
            <a:prstDash val="solid"/>
          </a:ln>
        </p:spPr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E24C9489-EF7F-4EBC-8C46-39F1E40B6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7728" y="3337560"/>
            <a:ext cx="38862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F7EBC4"/>
                </a:solidFill>
              </a:rPr>
              <a:t>Shared rate limits and abuse monitoring</a:t>
            </a:r>
            <a:endParaRPr sz="1000"/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62CA0427-EEB2-436A-AB15-2297C8512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3803904"/>
            <a:ext cx="164592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20E"/>
          </a:solidFill>
          <a:ln xmlns:a="http://schemas.openxmlformats.org/drawingml/2006/main" w="12700">
            <a:solidFill>
              <a:srgbClr val="D4AF37"/>
            </a:solidFill>
            <a:prstDash val="solid"/>
          </a:ln>
        </p:spPr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F61B5446-C222-499F-9D8C-06A2FC66E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7728" y="3776472"/>
            <a:ext cx="38862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F7EBC4"/>
                </a:solidFill>
              </a:rPr>
              <a:t>Database encryption and backups</a:t>
            </a:r>
            <a:endParaRPr sz="1000"/>
          </a:p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3CA4C050-0893-4BAA-8D89-A34C8A78D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4242816"/>
            <a:ext cx="164592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20E"/>
          </a:solidFill>
          <a:ln xmlns:a="http://schemas.openxmlformats.org/drawingml/2006/main" w="12700">
            <a:solidFill>
              <a:srgbClr val="D4AF37"/>
            </a:solidFill>
            <a:prstDash val="solid"/>
          </a:ln>
        </p:spPr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19CAA86D-6C36-44EE-997E-04E4B94E9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7728" y="4215384"/>
            <a:ext cx="38862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F7EBC4"/>
                </a:solidFill>
              </a:rPr>
              <a:t>Password reset + email verification</a:t>
            </a:r>
            <a:endParaRPr sz="1000"/>
          </a:p>
        </p:txBody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5BBFDF60-8C96-4FF3-A977-CAB4B6C1F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4681728"/>
            <a:ext cx="164592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20E"/>
          </a:solidFill>
          <a:ln xmlns:a="http://schemas.openxmlformats.org/drawingml/2006/main" w="12700">
            <a:solidFill>
              <a:srgbClr val="D4AF37"/>
            </a:solidFill>
            <a:prstDash val="solid"/>
          </a:ln>
        </p:spPr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2ACE31C4-A1F4-4AF7-9685-2432A8DE2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7728" y="4654296"/>
            <a:ext cx="38862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F7EBC4"/>
                </a:solidFill>
              </a:rPr>
              <a:t>Audit logs and security monitoring</a:t>
            </a:r>
            <a:endParaRPr sz="1000"/>
          </a:p>
        </p:txBody>
      </p:sp>
      <p:sp>
        <p:nvSpPr>
          <p:cNvPr id="3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0E418C9C-3D97-4096-87AA-8DECF46E9C43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704320" y="6510528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700">
                <a:solidFill>
                  <a:srgbClr val="8F8056"/>
                </a:solidFill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59027436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10CC866A-AA82-4894-9DBD-034733A8F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048"/>
            <a:ext cx="310896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 spc="200">
                <a:solidFill>
                  <a:srgbClr val="D4AF37"/>
                </a:solidFill>
              </a:rPr>
              <a:t>ROADMAP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AC2D03B-99C9-46E4-91B0-E4445AA39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13232"/>
            <a:ext cx="1097280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700" b="1">
                <a:solidFill>
                  <a:srgbClr val="F7EBC4"/>
                </a:solidFill>
              </a:rPr>
              <a:t>From working prototype to trusted financial product</a:t>
            </a:r>
            <a:endParaRPr sz="27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BCBF4E12-8A79-4D1E-9071-39CE0B050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1865376"/>
            <a:ext cx="2514600" cy="3246120"/>
          </a:xfrm>
          <a:prstGeom xmlns:a="http://schemas.openxmlformats.org/drawingml/2006/main" prst="roundRect">
            <a:avLst>
              <a:gd name="adj" fmla="val 4364"/>
            </a:avLst>
          </a:prstGeom>
          <a:solidFill xmlns:a="http://schemas.openxmlformats.org/drawingml/2006/main">
            <a:srgbClr val="251E0C"/>
          </a:solidFill>
          <a:ln xmlns:a="http://schemas.openxmlformats.org/drawingml/2006/main" w="10160">
            <a:solidFill>
              <a:srgbClr val="352E1B"/>
            </a:solidFill>
            <a:prstDash val="solid"/>
          </a:ln>
          <a:effectLst xmlns:a="http://schemas.openxmlformats.org/drawingml/2006/main">
            <a:outerShdw blurRad="25400" dist="50800" dir="2700000" sx="100000" sy="100000" kx="0" ky="0" algn="bl" rotWithShape="0">
              <a:srgbClr val="000000">
                <a:alpha val="22000"/>
              </a:srgbClr>
            </a:outerShdw>
          </a:effectLst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90784565-8401-4A0C-9B89-667586A54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" y="2112264"/>
            <a:ext cx="59436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 spc="150">
                <a:solidFill>
                  <a:srgbClr val="D4AF37"/>
                </a:solidFill>
              </a:rPr>
              <a:t>NOW</a:t>
            </a:r>
            <a:endParaRPr sz="9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C0C3964D-63CF-4646-8292-878E015F2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" y="2551176"/>
            <a:ext cx="21031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7EBC4"/>
                </a:solidFill>
              </a:rPr>
              <a:t>Working MVP</a:t>
            </a:r>
            <a:endParaRPr sz="18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7560B738-D580-4C96-9C35-D2120192D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" y="3246120"/>
            <a:ext cx="20848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4AF37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1197EEC3-383E-477B-9077-61D5BD513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" y="3520440"/>
            <a:ext cx="2084832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B8AA84"/>
                </a:solidFill>
              </a:rPr>
              <a:t>ETB budgeting · statements · portfolio · watsonx.ai + Granite</a:t>
            </a:r>
            <a:endParaRPr sz="100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476AC9DE-A628-42B8-81AB-E18FBE8F7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5576" y="1865376"/>
            <a:ext cx="2514600" cy="3246120"/>
          </a:xfrm>
          <a:prstGeom xmlns:a="http://schemas.openxmlformats.org/drawingml/2006/main" prst="roundRect">
            <a:avLst>
              <a:gd name="adj" fmla="val 4364"/>
            </a:avLst>
          </a:prstGeom>
          <a:solidFill xmlns:a="http://schemas.openxmlformats.org/drawingml/2006/main">
            <a:srgbClr val="141311"/>
          </a:solidFill>
          <a:ln xmlns:a="http://schemas.openxmlformats.org/drawingml/2006/main" w="10160">
            <a:solidFill>
              <a:srgbClr val="352E1B"/>
            </a:solidFill>
            <a:prstDash val="solid"/>
          </a:ln>
          <a:effectLst xmlns:a="http://schemas.openxmlformats.org/drawingml/2006/main">
            <a:outerShdw blurRad="25400" dist="50800" dir="2700000" sx="100000" sy="100000" kx="0" ky="0" algn="bl" rotWithShape="0">
              <a:srgbClr val="000000">
                <a:alpha val="22000"/>
              </a:srgbClr>
            </a:outerShdw>
          </a:effectLst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4B84D96F-44B1-4AA5-891D-EF316FF96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6744" y="2112264"/>
            <a:ext cx="59436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 spc="150">
                <a:solidFill>
                  <a:srgbClr val="D4AF37"/>
                </a:solidFill>
              </a:rPr>
              <a:t>NEXT</a:t>
            </a:r>
            <a:endParaRPr sz="9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DD66A8ED-80FB-4F30-A78D-897A20FE0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6744" y="2551176"/>
            <a:ext cx="21031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7EBC4"/>
                </a:solidFill>
              </a:rPr>
              <a:t>Production foundation</a:t>
            </a:r>
            <a:endParaRPr sz="18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3C18FDF6-CD8A-46F2-ADD7-7C0784FAC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6744" y="3246120"/>
            <a:ext cx="20848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514523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5E196585-3ED9-4F0F-A0F4-8EB428418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6744" y="3520440"/>
            <a:ext cx="2084832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B8AA84"/>
                </a:solidFill>
              </a:rPr>
              <a:t>Managed identity · PostgreSQL · audit logs · backups</a:t>
            </a:r>
            <a:endParaRPr sz="100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3C0ADCA4-FE04-4708-A7D1-4FCB3FE65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8504" y="1865376"/>
            <a:ext cx="2514600" cy="3246120"/>
          </a:xfrm>
          <a:prstGeom xmlns:a="http://schemas.openxmlformats.org/drawingml/2006/main" prst="roundRect">
            <a:avLst>
              <a:gd name="adj" fmla="val 4364"/>
            </a:avLst>
          </a:prstGeom>
          <a:solidFill xmlns:a="http://schemas.openxmlformats.org/drawingml/2006/main">
            <a:srgbClr val="141311"/>
          </a:solidFill>
          <a:ln xmlns:a="http://schemas.openxmlformats.org/drawingml/2006/main" w="10160">
            <a:solidFill>
              <a:srgbClr val="352E1B"/>
            </a:solidFill>
            <a:prstDash val="solid"/>
          </a:ln>
          <a:effectLst xmlns:a="http://schemas.openxmlformats.org/drawingml/2006/main">
            <a:outerShdw blurRad="25400" dist="50800" dir="2700000" sx="100000" sy="100000" kx="0" ky="0" algn="bl" rotWithShape="0">
              <a:srgbClr val="000000">
                <a:alpha val="22000"/>
              </a:srgbClr>
            </a:outerShdw>
          </a:effectLst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44B05341-7854-4D7D-A37B-92249A4EC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9672" y="2112264"/>
            <a:ext cx="59436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 spc="150">
                <a:solidFill>
                  <a:srgbClr val="D4AF37"/>
                </a:solidFill>
              </a:rPr>
              <a:t>THEN</a:t>
            </a:r>
            <a:endParaRPr sz="9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00244C18-86AD-4CB4-80D9-FDA2903EC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9672" y="2551176"/>
            <a:ext cx="21031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7EBC4"/>
                </a:solidFill>
              </a:rPr>
              <a:t>Data automation</a:t>
            </a:r>
            <a:endParaRPr sz="180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CBD323A9-8ADD-4D91-9A67-83308F64E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9672" y="3246120"/>
            <a:ext cx="20848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514523"/>
            </a:solidFill>
            <a:prstDash val="solid"/>
          </a:ln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202C4378-8F02-4DCD-AE49-CD30414E4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9672" y="3520440"/>
            <a:ext cx="2084832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B8AA84"/>
                </a:solidFill>
              </a:rPr>
              <a:t>telebirr parsing · bank connections · recurring expenses · notifications</a:t>
            </a:r>
            <a:endParaRPr sz="100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A89EFCC0-7B74-4397-A89D-34F45D91C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1432" y="1865376"/>
            <a:ext cx="2514600" cy="3246120"/>
          </a:xfrm>
          <a:prstGeom xmlns:a="http://schemas.openxmlformats.org/drawingml/2006/main" prst="roundRect">
            <a:avLst>
              <a:gd name="adj" fmla="val 4364"/>
            </a:avLst>
          </a:prstGeom>
          <a:solidFill xmlns:a="http://schemas.openxmlformats.org/drawingml/2006/main">
            <a:srgbClr val="141311"/>
          </a:solidFill>
          <a:ln xmlns:a="http://schemas.openxmlformats.org/drawingml/2006/main" w="10160">
            <a:solidFill>
              <a:srgbClr val="352E1B"/>
            </a:solidFill>
            <a:prstDash val="solid"/>
          </a:ln>
          <a:effectLst xmlns:a="http://schemas.openxmlformats.org/drawingml/2006/main">
            <a:outerShdw blurRad="25400" dist="50800" dir="2700000" sx="100000" sy="100000" kx="0" ky="0" algn="bl" rotWithShape="0">
              <a:srgbClr val="000000">
                <a:alpha val="22000"/>
              </a:srgbClr>
            </a:outerShdw>
          </a:effectLst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8995C46B-AE93-4FDC-935C-E4FF8886C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112264"/>
            <a:ext cx="59436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 spc="150">
                <a:solidFill>
                  <a:srgbClr val="D4AF37"/>
                </a:solidFill>
              </a:rPr>
              <a:t>LATER</a:t>
            </a:r>
            <a:endParaRPr sz="9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9ED5D329-81C3-409A-AB13-08069AB36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551176"/>
            <a:ext cx="21031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7EBC4"/>
                </a:solidFill>
              </a:rPr>
              <a:t>Market intelligence</a:t>
            </a:r>
            <a:endParaRPr sz="1800"/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4B32D112-9406-4174-80B4-868B6A8B2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246120"/>
            <a:ext cx="20848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514523"/>
            </a:solidFill>
            <a:prstDash val="solid"/>
          </a:ln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F67F3043-9E02-49CA-ACA1-9C01CFA2D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520440"/>
            <a:ext cx="2084832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B8AA84"/>
                </a:solidFill>
              </a:rPr>
              <a:t>Fundamentals · announcements · rates · research · broader assets</a:t>
            </a:r>
            <a:endParaRPr sz="100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DD9769CA-A54F-471B-BC32-BDDF370CE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" y="5742432"/>
            <a:ext cx="998524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5E4A19"/>
            </a:solidFill>
            <a:prstDash val="solid"/>
          </a:ln>
        </p:spPr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E5F5BA61-EABC-46D0-B244-F17DA2117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696" y="5660136"/>
            <a:ext cx="164592" cy="1645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F37"/>
          </a:solidFill>
          <a:ln xmlns:a="http://schemas.openxmlformats.org/drawingml/2006/main" w="12700">
            <a:solidFill>
              <a:srgbClr val="D4AF37"/>
            </a:solidFill>
            <a:prstDash val="solid"/>
          </a:ln>
        </p:spPr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3C9BDF90-82E6-4BE4-98A2-7820CA9A6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9624" y="5660136"/>
            <a:ext cx="164592" cy="1645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E4A19"/>
          </a:solidFill>
          <a:ln xmlns:a="http://schemas.openxmlformats.org/drawingml/2006/main" w="12700">
            <a:solidFill>
              <a:srgbClr val="5E4A19"/>
            </a:solidFill>
            <a:prstDash val="solid"/>
          </a:ln>
        </p:spPr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0116BC2E-8607-43B8-A359-6BDC40458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2552" y="5660136"/>
            <a:ext cx="164592" cy="1645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E4A19"/>
          </a:solidFill>
          <a:ln xmlns:a="http://schemas.openxmlformats.org/drawingml/2006/main" w="12700">
            <a:solidFill>
              <a:srgbClr val="5E4A19"/>
            </a:solidFill>
            <a:prstDash val="solid"/>
          </a:ln>
        </p:spPr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EB9749F3-7ED4-4923-963C-875E24545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5480" y="5660136"/>
            <a:ext cx="164592" cy="1645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E4A19"/>
          </a:solidFill>
          <a:ln xmlns:a="http://schemas.openxmlformats.org/drawingml/2006/main" w="12700">
            <a:solidFill>
              <a:srgbClr val="5E4A19"/>
            </a:solidFill>
            <a:prstDash val="solid"/>
          </a:ln>
        </p:spPr>
      </p:sp>
      <p:sp>
        <p:nvSpPr>
          <p:cNvPr id="29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DC2C462E-B614-48C0-B734-1598CA54647F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704320" y="6510528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700">
                <a:solidFill>
                  <a:srgbClr val="8F8056"/>
                </a:solidFill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1002950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9090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e5c877d3cc4e5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640080"/>
            <a:ext cx="1188720" cy="118872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B529AAC3-03DC-49D1-B2D6-078391339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8840" y="822960"/>
            <a:ext cx="71323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 spc="120">
                <a:solidFill>
                  <a:srgbClr val="D4AF37"/>
                </a:solidFill>
              </a:rPr>
              <a:t>SEE VIZIER IN ACTION</a:t>
            </a:r>
            <a:endParaRPr sz="30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ABB5802E-BC63-47CA-AFCF-4E100C740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6272" y="1435608"/>
            <a:ext cx="2743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B8AA84"/>
                </a:solidFill>
              </a:rPr>
              <a:t>A five-minute demo</a:t>
            </a:r>
            <a:endParaRPr sz="1400"/>
          </a:p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94998034-63A1-4EDA-AA27-A2FA766A7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240280"/>
            <a:ext cx="3401568" cy="987552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41311"/>
          </a:solidFill>
          <a:ln xmlns:a="http://schemas.openxmlformats.org/drawingml/2006/main" w="10160">
            <a:solidFill>
              <a:srgbClr val="352E1B"/>
            </a:solidFill>
            <a:prstDash val="solid"/>
          </a:ln>
          <a:effectLst xmlns:a="http://schemas.openxmlformats.org/drawingml/2006/main">
            <a:outerShdw blurRad="25400" dist="50800" dir="2700000" sx="100000" sy="100000" kx="0" ky="0" algn="bl" rotWithShape="0">
              <a:srgbClr val="000000">
                <a:alpha val="22000"/>
              </a:srgbClr>
            </a:outerShdw>
          </a:effectLst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E7243AA8-0FC5-4907-BCB0-84BC9EAC3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2441448"/>
            <a:ext cx="438912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D4AF37"/>
                </a:solidFill>
              </a:rPr>
              <a:t>1</a:t>
            </a:r>
            <a:endParaRPr sz="20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881C8568-24F2-49B1-8596-A8227204E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2404872"/>
            <a:ext cx="10058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F4D675"/>
                </a:solidFill>
              </a:rPr>
              <a:t>CREATE</a:t>
            </a:r>
            <a:endParaRPr sz="100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3CFD5736-91FF-43BC-B85C-47B6A1C78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2697480"/>
            <a:ext cx="23317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B8AA84"/>
                </a:solidFill>
              </a:rPr>
              <a:t>Register and choose a financial account</a:t>
            </a:r>
            <a:endParaRPr sz="850"/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A686D99E-A7F1-4B2F-A196-76F247B0C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424" y="2240280"/>
            <a:ext cx="3401568" cy="987552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41311"/>
          </a:solidFill>
          <a:ln xmlns:a="http://schemas.openxmlformats.org/drawingml/2006/main" w="10160">
            <a:solidFill>
              <a:srgbClr val="352E1B"/>
            </a:solidFill>
            <a:prstDash val="solid"/>
          </a:ln>
          <a:effectLst xmlns:a="http://schemas.openxmlformats.org/drawingml/2006/main">
            <a:outerShdw blurRad="25400" dist="50800" dir="2700000" sx="100000" sy="100000" kx="0" ky="0" algn="bl" rotWithShape="0">
              <a:srgbClr val="000000">
                <a:alpha val="22000"/>
              </a:srgbClr>
            </a:outerShdw>
          </a:effectLst>
        </p:spPr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7AE341B8-D89D-4235-92C5-0532300FF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0016" y="2441448"/>
            <a:ext cx="438912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D4AF37"/>
                </a:solidFill>
              </a:rPr>
              <a:t>2</a:t>
            </a:r>
            <a:endParaRPr sz="20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A6521D22-E268-4FDD-B16D-32144BBB2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5232" y="2404872"/>
            <a:ext cx="10058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F4D675"/>
                </a:solidFill>
              </a:rPr>
              <a:t>PLAN</a:t>
            </a:r>
            <a:endParaRPr sz="100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C7BB86F8-F950-41B9-8C76-4EA27E521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5232" y="2697480"/>
            <a:ext cx="23317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B8AA84"/>
                </a:solidFill>
              </a:rPr>
              <a:t>Enter income, expenses, budgets and goals</a:t>
            </a:r>
            <a:endParaRPr sz="850"/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BE7BD38E-9B39-472F-A124-6F6EF3DA2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7616" y="2240280"/>
            <a:ext cx="3401568" cy="987552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41311"/>
          </a:solidFill>
          <a:ln xmlns:a="http://schemas.openxmlformats.org/drawingml/2006/main" w="10160">
            <a:solidFill>
              <a:srgbClr val="352E1B"/>
            </a:solidFill>
            <a:prstDash val="solid"/>
          </a:ln>
          <a:effectLst xmlns:a="http://schemas.openxmlformats.org/drawingml/2006/main">
            <a:outerShdw blurRad="25400" dist="50800" dir="2700000" sx="100000" sy="100000" kx="0" ky="0" algn="bl" rotWithShape="0">
              <a:srgbClr val="000000">
                <a:alpha val="22000"/>
              </a:srgbClr>
            </a:outerShdw>
          </a:effectLst>
        </p:spPr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2D3862BA-EDE7-444C-80AB-E691C5748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2208" y="2441448"/>
            <a:ext cx="438912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D4AF37"/>
                </a:solidFill>
              </a:rPr>
              <a:t>3</a:t>
            </a:r>
            <a:endParaRPr sz="2000"/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5BAB97EC-9DAF-40C2-AF9E-11B96BE65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7424" y="2404872"/>
            <a:ext cx="10058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F4D675"/>
                </a:solidFill>
              </a:rPr>
              <a:t>IMPORT</a:t>
            </a:r>
            <a:endParaRPr sz="100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A760BFE2-DC58-489A-A29F-1BC5AADE6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7424" y="2697480"/>
            <a:ext cx="23317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B8AA84"/>
                </a:solidFill>
              </a:rPr>
              <a:t>Map and categorize a CSV statement</a:t>
            </a:r>
            <a:endParaRPr sz="850"/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DA0FFF82-E9AD-48F8-93DA-32E4C63E1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575304"/>
            <a:ext cx="3401568" cy="987552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41311"/>
          </a:solidFill>
          <a:ln xmlns:a="http://schemas.openxmlformats.org/drawingml/2006/main" w="10160">
            <a:solidFill>
              <a:srgbClr val="352E1B"/>
            </a:solidFill>
            <a:prstDash val="solid"/>
          </a:ln>
          <a:effectLst xmlns:a="http://schemas.openxmlformats.org/drawingml/2006/main">
            <a:outerShdw blurRad="25400" dist="50800" dir="2700000" sx="100000" sy="100000" kx="0" ky="0" algn="bl" rotWithShape="0">
              <a:srgbClr val="000000">
                <a:alpha val="22000"/>
              </a:srgbClr>
            </a:outerShdw>
          </a:effectLst>
        </p:spPr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47929A84-715D-4B2D-BD91-E340E3320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3776472"/>
            <a:ext cx="438912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D4AF37"/>
                </a:solidFill>
              </a:rPr>
              <a:t>4</a:t>
            </a:r>
            <a:endParaRPr sz="2000"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4A594990-5F05-4E6A-BB1C-D23B89BAA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3739896"/>
            <a:ext cx="10058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F4D675"/>
                </a:solidFill>
              </a:rPr>
              <a:t>UNDERSTAND</a:t>
            </a:r>
            <a:endParaRPr sz="1000"/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B581219B-3863-4284-91BE-2D39808FA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4032504"/>
            <a:ext cx="23317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B8AA84"/>
                </a:solidFill>
              </a:rPr>
              <a:t>Review trends, alerts and health score</a:t>
            </a:r>
            <a:endParaRPr sz="850"/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679198E4-3CF4-4F74-AD07-5D7DD70CD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424" y="3575304"/>
            <a:ext cx="3401568" cy="987552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41311"/>
          </a:solidFill>
          <a:ln xmlns:a="http://schemas.openxmlformats.org/drawingml/2006/main" w="10160">
            <a:solidFill>
              <a:srgbClr val="352E1B"/>
            </a:solidFill>
            <a:prstDash val="solid"/>
          </a:ln>
          <a:effectLst xmlns:a="http://schemas.openxmlformats.org/drawingml/2006/main">
            <a:outerShdw blurRad="25400" dist="50800" dir="2700000" sx="100000" sy="100000" kx="0" ky="0" algn="bl" rotWithShape="0">
              <a:srgbClr val="000000">
                <a:alpha val="22000"/>
              </a:srgbClr>
            </a:outerShdw>
          </a:effectLst>
        </p:spPr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D534ACA2-E0A2-4960-BFCF-6E97FF667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0016" y="3776472"/>
            <a:ext cx="438912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D4AF37"/>
                </a:solidFill>
              </a:rPr>
              <a:t>5</a:t>
            </a:r>
            <a:endParaRPr sz="2000"/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A2E9EBD1-9A39-42D9-AE63-DB01969A3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5232" y="3739896"/>
            <a:ext cx="10058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F4D675"/>
                </a:solidFill>
              </a:rPr>
              <a:t>INVEST</a:t>
            </a:r>
            <a:endParaRPr sz="1000"/>
          </a:p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6018B29A-A548-45EF-953C-3FB57C626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5232" y="4032504"/>
            <a:ext cx="23317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B8AA84"/>
                </a:solidFill>
              </a:rPr>
              <a:t>Add assets and review labelled reference values</a:t>
            </a:r>
            <a:endParaRPr sz="850"/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7D74B07C-512C-4C42-8C90-667E1B844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7616" y="3575304"/>
            <a:ext cx="3401568" cy="987552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251E0C"/>
          </a:solidFill>
          <a:ln xmlns:a="http://schemas.openxmlformats.org/drawingml/2006/main" w="10160">
            <a:solidFill>
              <a:srgbClr val="352E1B"/>
            </a:solidFill>
            <a:prstDash val="solid"/>
          </a:ln>
          <a:effectLst xmlns:a="http://schemas.openxmlformats.org/drawingml/2006/main">
            <a:outerShdw blurRad="25400" dist="50800" dir="2700000" sx="100000" sy="100000" kx="0" ky="0" algn="bl" rotWithShape="0">
              <a:srgbClr val="000000">
                <a:alpha val="22000"/>
              </a:srgbClr>
            </a:outerShdw>
          </a:effectLst>
        </p:spPr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6770DC43-1145-47A8-9ED7-3E1749BE2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2208" y="3776472"/>
            <a:ext cx="438912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D4AF37"/>
                </a:solidFill>
              </a:rPr>
              <a:t>6</a:t>
            </a:r>
            <a:endParaRPr sz="2000"/>
          </a:p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C1AE0E56-70D8-47C6-AE92-3EF2A953B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7424" y="3739896"/>
            <a:ext cx="10058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F4D675"/>
                </a:solidFill>
              </a:rPr>
              <a:t>ASK</a:t>
            </a:r>
            <a:endParaRPr sz="1000"/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383E480B-8051-407A-815C-25CD18546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7424" y="4032504"/>
            <a:ext cx="23317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B8AA84"/>
                </a:solidFill>
              </a:rPr>
              <a:t>Question Vizier’s context-aware AI coach</a:t>
            </a:r>
            <a:endParaRPr sz="850"/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F0E2239E-6C89-40B0-93F6-E13ED75BF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5349240"/>
            <a:ext cx="99669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4AF37"/>
            </a:solidFill>
            <a:prstDash val="solid"/>
          </a:ln>
        </p:spPr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421B812E-9266-40F1-976C-B3426EA2F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69280"/>
            <a:ext cx="27432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 spc="250">
                <a:solidFill>
                  <a:srgbClr val="D4AF37"/>
                </a:solidFill>
              </a:rPr>
              <a:t>VIZIER</a:t>
            </a:r>
            <a:endParaRPr sz="2600"/>
          </a:p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B297022E-3370-4B76-A997-9FD184CE5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760720"/>
            <a:ext cx="4709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300" b="1" spc="100">
                <a:solidFill>
                  <a:srgbClr val="F7EBC4"/>
                </a:solidFill>
              </a:rPr>
              <a:t>YOUR MONEY, MADE CLEARER.</a:t>
            </a:r>
            <a:endParaRPr sz="1300"/>
          </a:p>
        </p:txBody>
      </p:sp>
    </p:spTree>
    <p:extLst>
      <p:ext uri="{BB962C8B-B14F-4D97-AF65-F5344CB8AC3E}">
        <p14:creationId xmlns:p14="http://schemas.microsoft.com/office/powerpoint/2010/main" val="1249156100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2026-09-05T01:58:39.6970000Z</dcterms:created>
  <dcterms:modified xsi:type="dcterms:W3CDTF">2026-09-05T01:58:39.6970000Z</dcterms:modified>
</coreProperties>
</file>